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2" r:id="rId6"/>
    <p:sldId id="263" r:id="rId7"/>
    <p:sldId id="264" r:id="rId8"/>
    <p:sldId id="265"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8" d="100"/>
          <a:sy n="88" d="100"/>
        </p:scale>
        <p:origin x="65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1" Type="http://schemas.openxmlformats.org/officeDocument/2006/relationships/image" Target="../media/image4.jpg"/></Relationships>
</file>

<file path=ppt/diagrams/_rels/data2.xml.rels><?xml version="1.0" encoding="UTF-8" standalone="yes"?>
<Relationships xmlns="http://schemas.openxmlformats.org/package/2006/relationships"><Relationship Id="rId1" Type="http://schemas.openxmlformats.org/officeDocument/2006/relationships/image" Target="../media/image5.jpg"/></Relationships>
</file>

<file path=ppt/diagrams/_rels/drawing1.xml.rels><?xml version="1.0" encoding="UTF-8" standalone="yes"?>
<Relationships xmlns="http://schemas.openxmlformats.org/package/2006/relationships"><Relationship Id="rId1" Type="http://schemas.openxmlformats.org/officeDocument/2006/relationships/image" Target="../media/image4.jpg"/></Relationships>
</file>

<file path=ppt/diagrams/_rels/drawing2.xml.rels><?xml version="1.0" encoding="UTF-8" standalone="yes"?>
<Relationships xmlns="http://schemas.openxmlformats.org/package/2006/relationships"><Relationship Id="rId1" Type="http://schemas.openxmlformats.org/officeDocument/2006/relationships/image" Target="../media/image5.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01C14F-107C-4651-B176-3E2B00A7399A}" type="doc">
      <dgm:prSet loTypeId="urn:microsoft.com/office/officeart/2009/3/layout/SnapshotPictureList" loCatId="picture" qsTypeId="urn:microsoft.com/office/officeart/2005/8/quickstyle/simple1" qsCatId="simple" csTypeId="urn:microsoft.com/office/officeart/2005/8/colors/accent1_2" csCatId="accent1" phldr="1"/>
      <dgm:spPr/>
    </dgm:pt>
    <dgm:pt modelId="{F5673788-EC6C-425C-9298-5744993594E3}">
      <dgm:prSet phldrT="[Text]"/>
      <dgm:spPr/>
      <dgm:t>
        <a:bodyPr/>
        <a:lstStyle/>
        <a:p>
          <a:r>
            <a:rPr lang="en-US" dirty="0"/>
            <a:t>MAKE MONEY</a:t>
          </a:r>
        </a:p>
      </dgm:t>
    </dgm:pt>
    <dgm:pt modelId="{F96D98A6-D41F-47FE-B533-A7068E3CF638}" type="parTrans" cxnId="{4BC7F89C-C296-47F0-BA69-C3F824332219}">
      <dgm:prSet/>
      <dgm:spPr/>
      <dgm:t>
        <a:bodyPr/>
        <a:lstStyle/>
        <a:p>
          <a:endParaRPr lang="en-US"/>
        </a:p>
      </dgm:t>
    </dgm:pt>
    <dgm:pt modelId="{31998B3C-2EFD-4080-B8B1-703992F792BC}" type="sibTrans" cxnId="{4BC7F89C-C296-47F0-BA69-C3F824332219}">
      <dgm:prSet/>
      <dgm:spPr/>
      <dgm:t>
        <a:bodyPr/>
        <a:lstStyle/>
        <a:p>
          <a:endParaRPr lang="en-US"/>
        </a:p>
      </dgm:t>
    </dgm:pt>
    <dgm:pt modelId="{BF07855D-9F82-4607-A56C-0237597FE175}" type="pres">
      <dgm:prSet presAssocID="{5D01C14F-107C-4651-B176-3E2B00A7399A}" presName="Name0" presStyleCnt="0">
        <dgm:presLayoutVars>
          <dgm:chMax/>
          <dgm:chPref/>
          <dgm:dir/>
          <dgm:animLvl val="lvl"/>
        </dgm:presLayoutVars>
      </dgm:prSet>
      <dgm:spPr/>
    </dgm:pt>
    <dgm:pt modelId="{F2A5537A-95F5-4D87-9375-B94375F31165}" type="pres">
      <dgm:prSet presAssocID="{F5673788-EC6C-425C-9298-5744993594E3}" presName="composite" presStyleCnt="0"/>
      <dgm:spPr/>
    </dgm:pt>
    <dgm:pt modelId="{08586495-F8D6-4ECC-89BB-EA28CDE9E67D}" type="pres">
      <dgm:prSet presAssocID="{F5673788-EC6C-425C-9298-5744993594E3}" presName="ParentAccentShape" presStyleLbl="trBgShp" presStyleIdx="0" presStyleCnt="1"/>
      <dgm:spPr/>
    </dgm:pt>
    <dgm:pt modelId="{F0EC895B-C0A4-4E5A-8770-9242ED2A2E05}" type="pres">
      <dgm:prSet presAssocID="{F5673788-EC6C-425C-9298-5744993594E3}" presName="ParentText" presStyleLbl="revTx" presStyleIdx="0" presStyleCnt="2" custScaleX="175131" custScaleY="714283" custLinFactY="275130" custLinFactNeighborX="4051" custLinFactNeighborY="300000">
        <dgm:presLayoutVars>
          <dgm:chMax val="1"/>
          <dgm:chPref val="1"/>
          <dgm:bulletEnabled val="1"/>
        </dgm:presLayoutVars>
      </dgm:prSet>
      <dgm:spPr/>
    </dgm:pt>
    <dgm:pt modelId="{08655076-4513-4503-8CBF-A8C0009F66AA}" type="pres">
      <dgm:prSet presAssocID="{F5673788-EC6C-425C-9298-5744993594E3}" presName="ChildText" presStyleLbl="revTx" presStyleIdx="1" presStyleCnt="2">
        <dgm:presLayoutVars>
          <dgm:chMax val="0"/>
          <dgm:chPref val="0"/>
        </dgm:presLayoutVars>
      </dgm:prSet>
      <dgm:spPr/>
    </dgm:pt>
    <dgm:pt modelId="{8325B71B-D877-44B2-925D-80E036BF6852}" type="pres">
      <dgm:prSet presAssocID="{F5673788-EC6C-425C-9298-5744993594E3}" presName="ChildAccentShape" presStyleLbl="trBgShp" presStyleIdx="0" presStyleCnt="1"/>
      <dgm:spPr/>
    </dgm:pt>
    <dgm:pt modelId="{6AE8478A-83FD-4757-A7C7-D8C6A8531415}" type="pres">
      <dgm:prSet presAssocID="{F5673788-EC6C-425C-9298-5744993594E3}" presName="Image" presStyleLbl="alignImgPlace1" presStyleIdx="0" presStyleCnt="1" custScaleX="207781" custScaleY="207426" custLinFactNeighborX="3386" custLinFactNeighborY="-32923"/>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t="-3000" b="-3000"/>
          </a:stretch>
        </a:blipFill>
      </dgm:spPr>
    </dgm:pt>
  </dgm:ptLst>
  <dgm:cxnLst>
    <dgm:cxn modelId="{4BC7F89C-C296-47F0-BA69-C3F824332219}" srcId="{5D01C14F-107C-4651-B176-3E2B00A7399A}" destId="{F5673788-EC6C-425C-9298-5744993594E3}" srcOrd="0" destOrd="0" parTransId="{F96D98A6-D41F-47FE-B533-A7068E3CF638}" sibTransId="{31998B3C-2EFD-4080-B8B1-703992F792BC}"/>
    <dgm:cxn modelId="{52BE41F4-776C-4D12-A095-E6AB08C14A88}" type="presOf" srcId="{F5673788-EC6C-425C-9298-5744993594E3}" destId="{F0EC895B-C0A4-4E5A-8770-9242ED2A2E05}" srcOrd="0" destOrd="0" presId="urn:microsoft.com/office/officeart/2009/3/layout/SnapshotPictureList"/>
    <dgm:cxn modelId="{F3759BFB-93D7-4352-BA0F-E69D63950545}" type="presOf" srcId="{5D01C14F-107C-4651-B176-3E2B00A7399A}" destId="{BF07855D-9F82-4607-A56C-0237597FE175}" srcOrd="0" destOrd="0" presId="urn:microsoft.com/office/officeart/2009/3/layout/SnapshotPictureList"/>
    <dgm:cxn modelId="{DB65E7B1-827E-47F5-85AF-60612F1AAD3A}" type="presParOf" srcId="{BF07855D-9F82-4607-A56C-0237597FE175}" destId="{F2A5537A-95F5-4D87-9375-B94375F31165}" srcOrd="0" destOrd="0" presId="urn:microsoft.com/office/officeart/2009/3/layout/SnapshotPictureList"/>
    <dgm:cxn modelId="{9F333FAB-81C1-4D15-AD84-E958A3538DD0}" type="presParOf" srcId="{F2A5537A-95F5-4D87-9375-B94375F31165}" destId="{08586495-F8D6-4ECC-89BB-EA28CDE9E67D}" srcOrd="0" destOrd="0" presId="urn:microsoft.com/office/officeart/2009/3/layout/SnapshotPictureList"/>
    <dgm:cxn modelId="{AD559C60-656F-4C50-8792-7B8B1DB62CE1}" type="presParOf" srcId="{F2A5537A-95F5-4D87-9375-B94375F31165}" destId="{F0EC895B-C0A4-4E5A-8770-9242ED2A2E05}" srcOrd="1" destOrd="0" presId="urn:microsoft.com/office/officeart/2009/3/layout/SnapshotPictureList"/>
    <dgm:cxn modelId="{A6E4FEFD-B509-4109-9D1F-FC3F2FFFA8CF}" type="presParOf" srcId="{F2A5537A-95F5-4D87-9375-B94375F31165}" destId="{08655076-4513-4503-8CBF-A8C0009F66AA}" srcOrd="2" destOrd="0" presId="urn:microsoft.com/office/officeart/2009/3/layout/SnapshotPictureList"/>
    <dgm:cxn modelId="{4964B6B6-188B-4707-9AC9-907B9E3E8741}" type="presParOf" srcId="{F2A5537A-95F5-4D87-9375-B94375F31165}" destId="{8325B71B-D877-44B2-925D-80E036BF6852}" srcOrd="3" destOrd="0" presId="urn:microsoft.com/office/officeart/2009/3/layout/SnapshotPictureList"/>
    <dgm:cxn modelId="{34110778-9EFF-427E-AF7E-816F262FD220}" type="presParOf" srcId="{F2A5537A-95F5-4D87-9375-B94375F31165}" destId="{6AE8478A-83FD-4757-A7C7-D8C6A8531415}" srcOrd="4" destOrd="0" presId="urn:microsoft.com/office/officeart/2009/3/layout/SnapshotPictur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AB452CD-23F3-43D9-995E-D677515D2E43}" type="doc">
      <dgm:prSet loTypeId="urn:microsoft.com/office/officeart/2009/3/layout/SnapshotPictureList" loCatId="picture" qsTypeId="urn:microsoft.com/office/officeart/2005/8/quickstyle/simple1" qsCatId="simple" csTypeId="urn:microsoft.com/office/officeart/2005/8/colors/accent1_2" csCatId="accent1" phldr="1"/>
      <dgm:spPr/>
    </dgm:pt>
    <dgm:pt modelId="{DA44BADA-66A4-4444-A9DF-5393E750A5D2}">
      <dgm:prSet phldrT="[Text]"/>
      <dgm:spPr/>
      <dgm:t>
        <a:bodyPr/>
        <a:lstStyle/>
        <a:p>
          <a:r>
            <a:rPr lang="en-US" dirty="0"/>
            <a:t>GAIN HIGHER MARKET SHARE</a:t>
          </a:r>
        </a:p>
      </dgm:t>
    </dgm:pt>
    <dgm:pt modelId="{63044F1E-0427-4458-8AC3-A50061135B85}" type="parTrans" cxnId="{268F8209-8146-430D-AF73-6B7DE7749414}">
      <dgm:prSet/>
      <dgm:spPr/>
      <dgm:t>
        <a:bodyPr/>
        <a:lstStyle/>
        <a:p>
          <a:endParaRPr lang="en-US"/>
        </a:p>
      </dgm:t>
    </dgm:pt>
    <dgm:pt modelId="{E466940B-2E71-413C-9E4F-0E5B629514F2}" type="sibTrans" cxnId="{268F8209-8146-430D-AF73-6B7DE7749414}">
      <dgm:prSet/>
      <dgm:spPr/>
      <dgm:t>
        <a:bodyPr/>
        <a:lstStyle/>
        <a:p>
          <a:endParaRPr lang="en-US"/>
        </a:p>
      </dgm:t>
    </dgm:pt>
    <dgm:pt modelId="{E6FBA120-AAE4-45BC-BC4D-FEBC72A0098F}" type="pres">
      <dgm:prSet presAssocID="{2AB452CD-23F3-43D9-995E-D677515D2E43}" presName="Name0" presStyleCnt="0">
        <dgm:presLayoutVars>
          <dgm:chMax/>
          <dgm:chPref/>
          <dgm:dir/>
          <dgm:animLvl val="lvl"/>
        </dgm:presLayoutVars>
      </dgm:prSet>
      <dgm:spPr/>
    </dgm:pt>
    <dgm:pt modelId="{ED575436-5055-44DD-8781-B48BF58AB768}" type="pres">
      <dgm:prSet presAssocID="{DA44BADA-66A4-4444-A9DF-5393E750A5D2}" presName="composite" presStyleCnt="0"/>
      <dgm:spPr/>
    </dgm:pt>
    <dgm:pt modelId="{3A7C5917-8EE4-4FEE-B958-137D736056CB}" type="pres">
      <dgm:prSet presAssocID="{DA44BADA-66A4-4444-A9DF-5393E750A5D2}" presName="ParentAccentShape" presStyleLbl="trBgShp" presStyleIdx="0" presStyleCnt="1" custLinFactNeighborX="0" custLinFactNeighborY="-124"/>
      <dgm:spPr/>
    </dgm:pt>
    <dgm:pt modelId="{8FE42C9F-57C2-454B-AB63-46D3D1A3CE06}" type="pres">
      <dgm:prSet presAssocID="{DA44BADA-66A4-4444-A9DF-5393E750A5D2}" presName="ParentText" presStyleLbl="revTx" presStyleIdx="0" presStyleCnt="2" custScaleX="99543" custScaleY="356973" custLinFactY="100000" custLinFactNeighborX="-1477" custLinFactNeighborY="127537">
        <dgm:presLayoutVars>
          <dgm:chMax val="1"/>
          <dgm:chPref val="1"/>
          <dgm:bulletEnabled val="1"/>
        </dgm:presLayoutVars>
      </dgm:prSet>
      <dgm:spPr/>
    </dgm:pt>
    <dgm:pt modelId="{2ACA7F69-844A-4711-8D1D-86708DB4B7C2}" type="pres">
      <dgm:prSet presAssocID="{DA44BADA-66A4-4444-A9DF-5393E750A5D2}" presName="ChildText" presStyleLbl="revTx" presStyleIdx="1" presStyleCnt="2">
        <dgm:presLayoutVars>
          <dgm:chMax val="0"/>
          <dgm:chPref val="0"/>
        </dgm:presLayoutVars>
      </dgm:prSet>
      <dgm:spPr/>
    </dgm:pt>
    <dgm:pt modelId="{F6DC61B6-F7D8-49A2-BCD6-6B1D079B421C}" type="pres">
      <dgm:prSet presAssocID="{DA44BADA-66A4-4444-A9DF-5393E750A5D2}" presName="ChildAccentShape" presStyleLbl="trBgShp" presStyleIdx="0" presStyleCnt="1"/>
      <dgm:spPr/>
    </dgm:pt>
    <dgm:pt modelId="{BD36A3CB-BBBC-4D78-B1B4-359B9AF11D6A}" type="pres">
      <dgm:prSet presAssocID="{DA44BADA-66A4-4444-A9DF-5393E750A5D2}" presName="Image" presStyleLbl="alignImgPlace1" presStyleIdx="0" presStyleCnt="1" custLinFactNeighborX="4754" custLinFactNeighborY="13046"/>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dgm:spPr>
    </dgm:pt>
  </dgm:ptLst>
  <dgm:cxnLst>
    <dgm:cxn modelId="{268F8209-8146-430D-AF73-6B7DE7749414}" srcId="{2AB452CD-23F3-43D9-995E-D677515D2E43}" destId="{DA44BADA-66A4-4444-A9DF-5393E750A5D2}" srcOrd="0" destOrd="0" parTransId="{63044F1E-0427-4458-8AC3-A50061135B85}" sibTransId="{E466940B-2E71-413C-9E4F-0E5B629514F2}"/>
    <dgm:cxn modelId="{33BB4430-AF24-41BB-B997-1AAD03E3609E}" type="presOf" srcId="{2AB452CD-23F3-43D9-995E-D677515D2E43}" destId="{E6FBA120-AAE4-45BC-BC4D-FEBC72A0098F}" srcOrd="0" destOrd="0" presId="urn:microsoft.com/office/officeart/2009/3/layout/SnapshotPictureList"/>
    <dgm:cxn modelId="{D64DB07D-909B-4C5D-A4A5-A2F614EAEAC8}" type="presOf" srcId="{DA44BADA-66A4-4444-A9DF-5393E750A5D2}" destId="{8FE42C9F-57C2-454B-AB63-46D3D1A3CE06}" srcOrd="0" destOrd="0" presId="urn:microsoft.com/office/officeart/2009/3/layout/SnapshotPictureList"/>
    <dgm:cxn modelId="{4DF50B87-29EA-4485-BD80-388EF49D6CD8}" type="presParOf" srcId="{E6FBA120-AAE4-45BC-BC4D-FEBC72A0098F}" destId="{ED575436-5055-44DD-8781-B48BF58AB768}" srcOrd="0" destOrd="0" presId="urn:microsoft.com/office/officeart/2009/3/layout/SnapshotPictureList"/>
    <dgm:cxn modelId="{4F45EA98-2330-4434-88F8-0D6207911B64}" type="presParOf" srcId="{ED575436-5055-44DD-8781-B48BF58AB768}" destId="{3A7C5917-8EE4-4FEE-B958-137D736056CB}" srcOrd="0" destOrd="0" presId="urn:microsoft.com/office/officeart/2009/3/layout/SnapshotPictureList"/>
    <dgm:cxn modelId="{078240B4-948A-41F3-9DB0-8FCC2D80845B}" type="presParOf" srcId="{ED575436-5055-44DD-8781-B48BF58AB768}" destId="{8FE42C9F-57C2-454B-AB63-46D3D1A3CE06}" srcOrd="1" destOrd="0" presId="urn:microsoft.com/office/officeart/2009/3/layout/SnapshotPictureList"/>
    <dgm:cxn modelId="{42007BD2-0479-4994-8BB0-8690D0E1E6D7}" type="presParOf" srcId="{ED575436-5055-44DD-8781-B48BF58AB768}" destId="{2ACA7F69-844A-4711-8D1D-86708DB4B7C2}" srcOrd="2" destOrd="0" presId="urn:microsoft.com/office/officeart/2009/3/layout/SnapshotPictureList"/>
    <dgm:cxn modelId="{BD97810B-EA54-4D82-B6BC-731551E0CAA1}" type="presParOf" srcId="{ED575436-5055-44DD-8781-B48BF58AB768}" destId="{F6DC61B6-F7D8-49A2-BCD6-6B1D079B421C}" srcOrd="3" destOrd="0" presId="urn:microsoft.com/office/officeart/2009/3/layout/SnapshotPictureList"/>
    <dgm:cxn modelId="{989F441F-3D8F-4FBE-AE8E-46F30B67EDB1}" type="presParOf" srcId="{ED575436-5055-44DD-8781-B48BF58AB768}" destId="{BD36A3CB-BBBC-4D78-B1B4-359B9AF11D6A}" srcOrd="4" destOrd="0" presId="urn:microsoft.com/office/officeart/2009/3/layout/SnapshotPicture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586495-F8D6-4ECC-89BB-EA28CDE9E67D}">
      <dsp:nvSpPr>
        <dsp:cNvPr id="0" name=""/>
        <dsp:cNvSpPr/>
      </dsp:nvSpPr>
      <dsp:spPr>
        <a:xfrm>
          <a:off x="616474" y="750604"/>
          <a:ext cx="1106646" cy="787502"/>
        </a:xfrm>
        <a:prstGeom prst="frame">
          <a:avLst>
            <a:gd name="adj1" fmla="val 5450"/>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8478A-83FD-4757-A7C7-D8C6A8531415}">
      <dsp:nvSpPr>
        <dsp:cNvPr id="0" name=""/>
        <dsp:cNvSpPr/>
      </dsp:nvSpPr>
      <dsp:spPr>
        <a:xfrm>
          <a:off x="36507" y="10886"/>
          <a:ext cx="2210991" cy="1545133"/>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t="-3000" b="-3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0EC895B-C0A4-4E5A-8770-9242ED2A2E05}">
      <dsp:nvSpPr>
        <dsp:cNvPr id="0" name=""/>
        <dsp:cNvSpPr/>
      </dsp:nvSpPr>
      <dsp:spPr>
        <a:xfrm>
          <a:off x="317611" y="1389706"/>
          <a:ext cx="1787793" cy="667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68580" rIns="182880" bIns="68580" numCol="1" spcCol="1270" anchor="ctr" anchorCtr="0">
          <a:noAutofit/>
        </a:bodyPr>
        <a:lstStyle/>
        <a:p>
          <a:pPr marL="0" lvl="0" indent="0" algn="l" defTabSz="800100">
            <a:lnSpc>
              <a:spcPct val="90000"/>
            </a:lnSpc>
            <a:spcBef>
              <a:spcPct val="0"/>
            </a:spcBef>
            <a:spcAft>
              <a:spcPct val="35000"/>
            </a:spcAft>
            <a:buNone/>
          </a:pPr>
          <a:r>
            <a:rPr lang="en-US" sz="1800" kern="1200" dirty="0"/>
            <a:t>MAKE MONEY</a:t>
          </a:r>
        </a:p>
      </dsp:txBody>
      <dsp:txXfrm>
        <a:off x="317611" y="1389706"/>
        <a:ext cx="1787793" cy="667692"/>
      </dsp:txXfrm>
    </dsp:sp>
    <dsp:sp modelId="{08655076-4513-4503-8CBF-A8C0009F66AA}">
      <dsp:nvSpPr>
        <dsp:cNvPr id="0" name=""/>
        <dsp:cNvSpPr/>
      </dsp:nvSpPr>
      <dsp:spPr>
        <a:xfrm>
          <a:off x="1768172" y="750604"/>
          <a:ext cx="505946" cy="787502"/>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7C5917-8EE4-4FEE-B958-137D736056CB}">
      <dsp:nvSpPr>
        <dsp:cNvPr id="0" name=""/>
        <dsp:cNvSpPr/>
      </dsp:nvSpPr>
      <dsp:spPr>
        <a:xfrm>
          <a:off x="87050" y="781929"/>
          <a:ext cx="2264054" cy="1611126"/>
        </a:xfrm>
        <a:prstGeom prst="frame">
          <a:avLst>
            <a:gd name="adj1" fmla="val 5450"/>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36A3CB-BBBC-4D78-B1B4-359B9AF11D6A}">
      <dsp:nvSpPr>
        <dsp:cNvPr id="0" name=""/>
        <dsp:cNvSpPr/>
      </dsp:nvSpPr>
      <dsp:spPr>
        <a:xfrm>
          <a:off x="103494" y="789699"/>
          <a:ext cx="2177003" cy="152398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FE42C9F-57C2-454B-AB63-46D3D1A3CE06}">
      <dsp:nvSpPr>
        <dsp:cNvPr id="0" name=""/>
        <dsp:cNvSpPr/>
      </dsp:nvSpPr>
      <dsp:spPr>
        <a:xfrm>
          <a:off x="149490" y="2304833"/>
          <a:ext cx="2078945" cy="682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040" tIns="72390" rIns="193040" bIns="72390" numCol="1" spcCol="1270" anchor="ctr" anchorCtr="0">
          <a:noAutofit/>
        </a:bodyPr>
        <a:lstStyle/>
        <a:p>
          <a:pPr marL="0" lvl="0" indent="0" algn="l" defTabSz="844550">
            <a:lnSpc>
              <a:spcPct val="90000"/>
            </a:lnSpc>
            <a:spcBef>
              <a:spcPct val="0"/>
            </a:spcBef>
            <a:spcAft>
              <a:spcPct val="35000"/>
            </a:spcAft>
            <a:buNone/>
          </a:pPr>
          <a:r>
            <a:rPr lang="en-US" sz="1900" kern="1200" dirty="0"/>
            <a:t>GAIN HIGHER MARKET SHARE</a:t>
          </a:r>
        </a:p>
      </dsp:txBody>
      <dsp:txXfrm>
        <a:off x="149490" y="2304833"/>
        <a:ext cx="2078945" cy="682683"/>
      </dsp:txXfrm>
    </dsp:sp>
    <dsp:sp modelId="{2ACA7F69-844A-4711-8D1D-86708DB4B7C2}">
      <dsp:nvSpPr>
        <dsp:cNvPr id="0" name=""/>
        <dsp:cNvSpPr/>
      </dsp:nvSpPr>
      <dsp:spPr>
        <a:xfrm>
          <a:off x="2443276" y="783926"/>
          <a:ext cx="1035100" cy="1611126"/>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3972568122"/>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4004216567"/>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1941247772"/>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177050289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1393576565"/>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3920698207"/>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547934644"/>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3915654087"/>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3460342065"/>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3250556595"/>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4220811214"/>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2274766687"/>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3412720832"/>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3728888478"/>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3234183502"/>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245486656"/>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CD6420-4DBD-43C6-84AA-359F20D7B94A}" type="datetimeFigureOut">
              <a:rPr lang="en-US" smtClean="0"/>
              <a:t>12/17/2023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7A4B2E9-A14D-4909-9236-214909EAF2CB}" type="slidenum">
              <a:rPr lang="en-US" smtClean="0"/>
              <a:t>‹#›</a:t>
            </a:fld>
            <a:endParaRPr lang="en-US" dirty="0"/>
          </a:p>
        </p:txBody>
      </p:sp>
    </p:spTree>
    <p:extLst>
      <p:ext uri="{BB962C8B-B14F-4D97-AF65-F5344CB8AC3E}">
        <p14:creationId xmlns:p14="http://schemas.microsoft.com/office/powerpoint/2010/main" val="3904092874"/>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9CD6420-4DBD-43C6-84AA-359F20D7B94A}" type="datetimeFigureOut">
              <a:rPr lang="en-US" smtClean="0"/>
              <a:t>12/17/2023</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7A4B2E9-A14D-4909-9236-214909EAF2CB}" type="slidenum">
              <a:rPr lang="en-US" smtClean="0"/>
              <a:t>‹#›</a:t>
            </a:fld>
            <a:endParaRPr lang="en-US" dirty="0"/>
          </a:p>
        </p:txBody>
      </p:sp>
    </p:spTree>
    <p:extLst>
      <p:ext uri="{BB962C8B-B14F-4D97-AF65-F5344CB8AC3E}">
        <p14:creationId xmlns:p14="http://schemas.microsoft.com/office/powerpoint/2010/main" val="32399423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image" Target="../media/image7.jpg"/><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6.jp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image" Target="../media/image8.jpg"/></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Hexagon 38">
            <a:extLst>
              <a:ext uri="{FF2B5EF4-FFF2-40B4-BE49-F238E27FC236}">
                <a16:creationId xmlns:a16="http://schemas.microsoft.com/office/drawing/2014/main" id="{D0794FAD-7D99-EAD0-7AE9-6F68C91BDBE4}"/>
              </a:ext>
            </a:extLst>
          </p:cNvPr>
          <p:cNvSpPr/>
          <p:nvPr/>
        </p:nvSpPr>
        <p:spPr>
          <a:xfrm>
            <a:off x="6189401" y="1546291"/>
            <a:ext cx="2891205" cy="2506019"/>
          </a:xfrm>
          <a:prstGeom prst="hexagon">
            <a:avLst/>
          </a:prstGeom>
          <a:solidFill>
            <a:schemeClr val="accent1">
              <a:lumMod val="60000"/>
              <a:lumOff val="4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4800" b="1" dirty="0">
                <a:solidFill>
                  <a:srgbClr val="002060"/>
                </a:solidFill>
                <a:latin typeface="Algerian" panose="04020705040A02060702" pitchFamily="82" charset="0"/>
              </a:rPr>
              <a:t>OF</a:t>
            </a:r>
          </a:p>
        </p:txBody>
      </p:sp>
      <p:sp>
        <p:nvSpPr>
          <p:cNvPr id="38" name="Hexagon 37">
            <a:extLst>
              <a:ext uri="{FF2B5EF4-FFF2-40B4-BE49-F238E27FC236}">
                <a16:creationId xmlns:a16="http://schemas.microsoft.com/office/drawing/2014/main" id="{55C4E2B9-4823-8439-7BFE-A2AF74795CD1}"/>
              </a:ext>
            </a:extLst>
          </p:cNvPr>
          <p:cNvSpPr/>
          <p:nvPr/>
        </p:nvSpPr>
        <p:spPr>
          <a:xfrm>
            <a:off x="6206644" y="4015839"/>
            <a:ext cx="5445361" cy="2712229"/>
          </a:xfrm>
          <a:prstGeom prst="hexagon">
            <a:avLst/>
          </a:prstGeom>
          <a:solidFill>
            <a:schemeClr val="accent1">
              <a:lumMod val="40000"/>
              <a:lumOff val="6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3200" b="1" dirty="0">
                <a:solidFill>
                  <a:srgbClr val="002060"/>
                </a:solidFill>
                <a:latin typeface="Algerian" panose="04020705040A02060702" pitchFamily="82" charset="0"/>
              </a:rPr>
              <a:t>ENTREPRENEURSHIP</a:t>
            </a:r>
          </a:p>
        </p:txBody>
      </p:sp>
      <p:sp>
        <p:nvSpPr>
          <p:cNvPr id="37" name="Diamond 36">
            <a:extLst>
              <a:ext uri="{FF2B5EF4-FFF2-40B4-BE49-F238E27FC236}">
                <a16:creationId xmlns:a16="http://schemas.microsoft.com/office/drawing/2014/main" id="{F6AF6791-9390-8AD3-C7D2-9C9164244AB8}"/>
              </a:ext>
            </a:extLst>
          </p:cNvPr>
          <p:cNvSpPr/>
          <p:nvPr/>
        </p:nvSpPr>
        <p:spPr>
          <a:xfrm>
            <a:off x="7957440" y="1642164"/>
            <a:ext cx="4544929" cy="3633917"/>
          </a:xfrm>
          <a:prstGeom prst="diamond">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b="1" dirty="0">
                <a:solidFill>
                  <a:srgbClr val="002060"/>
                </a:solidFill>
                <a:latin typeface="Algerian" panose="04020705040A02060702" pitchFamily="82" charset="0"/>
              </a:rPr>
              <a:t>MILLENNIAL</a:t>
            </a:r>
          </a:p>
        </p:txBody>
      </p:sp>
      <p:sp>
        <p:nvSpPr>
          <p:cNvPr id="9" name="Diamond 8">
            <a:extLst>
              <a:ext uri="{FF2B5EF4-FFF2-40B4-BE49-F238E27FC236}">
                <a16:creationId xmlns:a16="http://schemas.microsoft.com/office/drawing/2014/main" id="{AE1B24E9-C90F-ACDB-002B-97CE23452B3C}"/>
              </a:ext>
            </a:extLst>
          </p:cNvPr>
          <p:cNvSpPr/>
          <p:nvPr/>
        </p:nvSpPr>
        <p:spPr>
          <a:xfrm rot="1099265">
            <a:off x="1570758" y="294"/>
            <a:ext cx="1828800" cy="1741714"/>
          </a:xfrm>
          <a:prstGeom prst="diamond">
            <a:avLst/>
          </a:prstGeom>
          <a:solidFill>
            <a:srgbClr val="00206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4800" b="1" dirty="0">
                <a:solidFill>
                  <a:srgbClr val="002060"/>
                </a:solidFill>
                <a:latin typeface="Algerian" panose="04020705040A02060702" pitchFamily="82" charset="0"/>
              </a:rPr>
              <a:t>W</a:t>
            </a:r>
          </a:p>
        </p:txBody>
      </p:sp>
      <p:sp>
        <p:nvSpPr>
          <p:cNvPr id="8" name="Diamond 7">
            <a:extLst>
              <a:ext uri="{FF2B5EF4-FFF2-40B4-BE49-F238E27FC236}">
                <a16:creationId xmlns:a16="http://schemas.microsoft.com/office/drawing/2014/main" id="{68AADB05-B5CA-5CA2-D01A-95F2E21EB39A}"/>
              </a:ext>
            </a:extLst>
          </p:cNvPr>
          <p:cNvSpPr/>
          <p:nvPr/>
        </p:nvSpPr>
        <p:spPr>
          <a:xfrm rot="1019348">
            <a:off x="1460635" y="5388515"/>
            <a:ext cx="1828800" cy="1741714"/>
          </a:xfrm>
          <a:prstGeom prst="diamond">
            <a:avLst/>
          </a:prstGeom>
          <a:solidFill>
            <a:srgbClr val="00206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5400" b="1" dirty="0">
                <a:solidFill>
                  <a:srgbClr val="002060"/>
                </a:solidFill>
                <a:latin typeface="Algerian" panose="04020705040A02060702" pitchFamily="82" charset="0"/>
              </a:rPr>
              <a:t>E</a:t>
            </a:r>
          </a:p>
        </p:txBody>
      </p:sp>
      <p:sp>
        <p:nvSpPr>
          <p:cNvPr id="7" name="Diamond 6">
            <a:extLst>
              <a:ext uri="{FF2B5EF4-FFF2-40B4-BE49-F238E27FC236}">
                <a16:creationId xmlns:a16="http://schemas.microsoft.com/office/drawing/2014/main" id="{D159D1ED-A8EA-A054-37F0-A58A1CF54093}"/>
              </a:ext>
            </a:extLst>
          </p:cNvPr>
          <p:cNvSpPr/>
          <p:nvPr/>
        </p:nvSpPr>
        <p:spPr>
          <a:xfrm rot="1419803">
            <a:off x="2712554" y="4659375"/>
            <a:ext cx="1828800" cy="1741714"/>
          </a:xfrm>
          <a:prstGeom prst="diamond">
            <a:avLst/>
          </a:prstGeom>
          <a:solidFill>
            <a:srgbClr val="00206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4400" b="1" dirty="0">
                <a:solidFill>
                  <a:srgbClr val="002060"/>
                </a:solidFill>
                <a:latin typeface="Algerian" panose="04020705040A02060702" pitchFamily="82" charset="0"/>
              </a:rPr>
              <a:t>M</a:t>
            </a:r>
          </a:p>
        </p:txBody>
      </p:sp>
      <p:sp>
        <p:nvSpPr>
          <p:cNvPr id="6" name="Diamond 5">
            <a:extLst>
              <a:ext uri="{FF2B5EF4-FFF2-40B4-BE49-F238E27FC236}">
                <a16:creationId xmlns:a16="http://schemas.microsoft.com/office/drawing/2014/main" id="{749E46B7-BC18-3B2E-D3EE-C3563DC2E011}"/>
              </a:ext>
            </a:extLst>
          </p:cNvPr>
          <p:cNvSpPr/>
          <p:nvPr/>
        </p:nvSpPr>
        <p:spPr>
          <a:xfrm rot="1857555">
            <a:off x="1405329" y="3559167"/>
            <a:ext cx="1828800" cy="1741714"/>
          </a:xfrm>
          <a:prstGeom prst="diamond">
            <a:avLst/>
          </a:prstGeom>
          <a:solidFill>
            <a:srgbClr val="00206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600" b="1" dirty="0">
                <a:solidFill>
                  <a:srgbClr val="002060"/>
                </a:solidFill>
                <a:latin typeface="Algerian" panose="04020705040A02060702" pitchFamily="82" charset="0"/>
              </a:rPr>
              <a:t>O</a:t>
            </a:r>
          </a:p>
        </p:txBody>
      </p:sp>
      <p:sp>
        <p:nvSpPr>
          <p:cNvPr id="5" name="Diamond 4">
            <a:extLst>
              <a:ext uri="{FF2B5EF4-FFF2-40B4-BE49-F238E27FC236}">
                <a16:creationId xmlns:a16="http://schemas.microsoft.com/office/drawing/2014/main" id="{BD3DD4D7-DCE3-B645-1DC6-9D70040B3908}"/>
              </a:ext>
            </a:extLst>
          </p:cNvPr>
          <p:cNvSpPr/>
          <p:nvPr/>
        </p:nvSpPr>
        <p:spPr>
          <a:xfrm rot="1077832">
            <a:off x="2991550" y="2886909"/>
            <a:ext cx="1828800" cy="1741714"/>
          </a:xfrm>
          <a:prstGeom prst="diamond">
            <a:avLst/>
          </a:prstGeom>
          <a:solidFill>
            <a:srgbClr val="00206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000" b="1" dirty="0">
                <a:solidFill>
                  <a:srgbClr val="002060"/>
                </a:solidFill>
                <a:latin typeface="Algerian" panose="04020705040A02060702" pitchFamily="82" charset="0"/>
              </a:rPr>
              <a:t>C</a:t>
            </a:r>
          </a:p>
        </p:txBody>
      </p:sp>
      <p:sp>
        <p:nvSpPr>
          <p:cNvPr id="4" name="Diamond 3">
            <a:extLst>
              <a:ext uri="{FF2B5EF4-FFF2-40B4-BE49-F238E27FC236}">
                <a16:creationId xmlns:a16="http://schemas.microsoft.com/office/drawing/2014/main" id="{E9D3EDC1-59D2-A27E-F2ED-F8C3DEB93B00}"/>
              </a:ext>
            </a:extLst>
          </p:cNvPr>
          <p:cNvSpPr/>
          <p:nvPr/>
        </p:nvSpPr>
        <p:spPr>
          <a:xfrm rot="20658049">
            <a:off x="1722012" y="1744408"/>
            <a:ext cx="1828800" cy="1741714"/>
          </a:xfrm>
          <a:prstGeom prst="diamond">
            <a:avLst/>
          </a:prstGeom>
          <a:solidFill>
            <a:srgbClr val="00206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000" b="1" dirty="0">
                <a:solidFill>
                  <a:srgbClr val="002060"/>
                </a:solidFill>
                <a:latin typeface="Algerian" panose="04020705040A02060702" pitchFamily="82" charset="0"/>
              </a:rPr>
              <a:t>L</a:t>
            </a:r>
          </a:p>
        </p:txBody>
      </p:sp>
      <p:sp>
        <p:nvSpPr>
          <p:cNvPr id="3" name="Diamond 2">
            <a:extLst>
              <a:ext uri="{FF2B5EF4-FFF2-40B4-BE49-F238E27FC236}">
                <a16:creationId xmlns:a16="http://schemas.microsoft.com/office/drawing/2014/main" id="{8291563F-F1D3-1A9A-9EAA-5EF9293B12DE}"/>
              </a:ext>
            </a:extLst>
          </p:cNvPr>
          <p:cNvSpPr/>
          <p:nvPr/>
        </p:nvSpPr>
        <p:spPr>
          <a:xfrm rot="1192708">
            <a:off x="3370744" y="724799"/>
            <a:ext cx="1828800" cy="1741714"/>
          </a:xfrm>
          <a:prstGeom prst="diamond">
            <a:avLst/>
          </a:prstGeom>
          <a:solidFill>
            <a:schemeClr val="accent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000" b="1" dirty="0">
                <a:solidFill>
                  <a:srgbClr val="002060"/>
                </a:solidFill>
                <a:latin typeface="Algerian" panose="04020705040A02060702" pitchFamily="82" charset="0"/>
              </a:rPr>
              <a:t>E</a:t>
            </a:r>
          </a:p>
        </p:txBody>
      </p:sp>
      <p:sp>
        <p:nvSpPr>
          <p:cNvPr id="2" name="Diamond 1">
            <a:extLst>
              <a:ext uri="{FF2B5EF4-FFF2-40B4-BE49-F238E27FC236}">
                <a16:creationId xmlns:a16="http://schemas.microsoft.com/office/drawing/2014/main" id="{9969877F-1A7C-3D19-EDCE-C927F261A3FF}"/>
              </a:ext>
            </a:extLst>
          </p:cNvPr>
          <p:cNvSpPr/>
          <p:nvPr/>
        </p:nvSpPr>
        <p:spPr>
          <a:xfrm rot="1099265">
            <a:off x="1943783" y="-18981"/>
            <a:ext cx="1828800" cy="1741714"/>
          </a:xfrm>
          <a:prstGeom prst="diamond">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4800" b="1" dirty="0">
                <a:solidFill>
                  <a:srgbClr val="002060"/>
                </a:solidFill>
                <a:latin typeface="Algerian" panose="04020705040A02060702" pitchFamily="82" charset="0"/>
              </a:rPr>
              <a:t>W</a:t>
            </a:r>
          </a:p>
        </p:txBody>
      </p:sp>
      <p:sp>
        <p:nvSpPr>
          <p:cNvPr id="10" name="Diamond 9">
            <a:extLst>
              <a:ext uri="{FF2B5EF4-FFF2-40B4-BE49-F238E27FC236}">
                <a16:creationId xmlns:a16="http://schemas.microsoft.com/office/drawing/2014/main" id="{527BDDCB-C479-16E2-08A0-0AC5D65D9AD1}"/>
              </a:ext>
            </a:extLst>
          </p:cNvPr>
          <p:cNvSpPr/>
          <p:nvPr/>
        </p:nvSpPr>
        <p:spPr>
          <a:xfrm rot="1192708">
            <a:off x="3770409" y="860848"/>
            <a:ext cx="1828800" cy="1741714"/>
          </a:xfrm>
          <a:prstGeom prst="diamond">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000" b="1" dirty="0">
                <a:solidFill>
                  <a:srgbClr val="002060"/>
                </a:solidFill>
                <a:latin typeface="Algerian" panose="04020705040A02060702" pitchFamily="82" charset="0"/>
              </a:rPr>
              <a:t>E</a:t>
            </a:r>
          </a:p>
        </p:txBody>
      </p:sp>
      <p:sp>
        <p:nvSpPr>
          <p:cNvPr id="11" name="Diamond 10">
            <a:extLst>
              <a:ext uri="{FF2B5EF4-FFF2-40B4-BE49-F238E27FC236}">
                <a16:creationId xmlns:a16="http://schemas.microsoft.com/office/drawing/2014/main" id="{7E6EA1A9-6979-2F6C-9AA3-71326DED45D5}"/>
              </a:ext>
            </a:extLst>
          </p:cNvPr>
          <p:cNvSpPr/>
          <p:nvPr/>
        </p:nvSpPr>
        <p:spPr>
          <a:xfrm rot="20658049">
            <a:off x="2334917" y="1581131"/>
            <a:ext cx="1828800" cy="1741714"/>
          </a:xfrm>
          <a:prstGeom prst="diamond">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000" b="1" dirty="0">
                <a:solidFill>
                  <a:srgbClr val="002060"/>
                </a:solidFill>
                <a:latin typeface="Algerian" panose="04020705040A02060702" pitchFamily="82" charset="0"/>
              </a:rPr>
              <a:t>L</a:t>
            </a:r>
          </a:p>
        </p:txBody>
      </p:sp>
      <p:sp>
        <p:nvSpPr>
          <p:cNvPr id="15" name="Diamond 14">
            <a:extLst>
              <a:ext uri="{FF2B5EF4-FFF2-40B4-BE49-F238E27FC236}">
                <a16:creationId xmlns:a16="http://schemas.microsoft.com/office/drawing/2014/main" id="{EFB89D3A-733B-16D1-75BB-7547B8E33671}"/>
              </a:ext>
            </a:extLst>
          </p:cNvPr>
          <p:cNvSpPr/>
          <p:nvPr/>
        </p:nvSpPr>
        <p:spPr>
          <a:xfrm rot="1089014">
            <a:off x="3479046" y="2735587"/>
            <a:ext cx="1828800" cy="1741714"/>
          </a:xfrm>
          <a:prstGeom prst="diamond">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000" b="1" dirty="0">
                <a:solidFill>
                  <a:srgbClr val="002060"/>
                </a:solidFill>
                <a:latin typeface="Algerian" panose="04020705040A02060702" pitchFamily="82" charset="0"/>
              </a:rPr>
              <a:t>C</a:t>
            </a:r>
          </a:p>
        </p:txBody>
      </p:sp>
      <p:sp>
        <p:nvSpPr>
          <p:cNvPr id="18" name="Diamond 17">
            <a:extLst>
              <a:ext uri="{FF2B5EF4-FFF2-40B4-BE49-F238E27FC236}">
                <a16:creationId xmlns:a16="http://schemas.microsoft.com/office/drawing/2014/main" id="{3DC046B2-E988-F2B1-CFA1-8C813C43326D}"/>
              </a:ext>
            </a:extLst>
          </p:cNvPr>
          <p:cNvSpPr/>
          <p:nvPr/>
        </p:nvSpPr>
        <p:spPr>
          <a:xfrm rot="1857555">
            <a:off x="1936308" y="3551464"/>
            <a:ext cx="1828800" cy="1741714"/>
          </a:xfrm>
          <a:prstGeom prst="diamond">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600" b="1" dirty="0">
                <a:solidFill>
                  <a:srgbClr val="002060"/>
                </a:solidFill>
                <a:latin typeface="Algerian" panose="04020705040A02060702" pitchFamily="82" charset="0"/>
              </a:rPr>
              <a:t>O</a:t>
            </a:r>
          </a:p>
        </p:txBody>
      </p:sp>
      <p:sp>
        <p:nvSpPr>
          <p:cNvPr id="19" name="Diamond 18">
            <a:extLst>
              <a:ext uri="{FF2B5EF4-FFF2-40B4-BE49-F238E27FC236}">
                <a16:creationId xmlns:a16="http://schemas.microsoft.com/office/drawing/2014/main" id="{2D215CEC-3466-A1B1-1B3A-075B8696FC30}"/>
              </a:ext>
            </a:extLst>
          </p:cNvPr>
          <p:cNvSpPr/>
          <p:nvPr/>
        </p:nvSpPr>
        <p:spPr>
          <a:xfrm rot="1419803">
            <a:off x="3185673" y="4376007"/>
            <a:ext cx="1828800" cy="1741714"/>
          </a:xfrm>
          <a:prstGeom prst="diamond">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5400" b="1" dirty="0">
                <a:solidFill>
                  <a:srgbClr val="002060"/>
                </a:solidFill>
                <a:latin typeface="Algerian" panose="04020705040A02060702" pitchFamily="82" charset="0"/>
              </a:rPr>
              <a:t>M</a:t>
            </a:r>
          </a:p>
        </p:txBody>
      </p:sp>
      <p:sp>
        <p:nvSpPr>
          <p:cNvPr id="21" name="Diamond 20">
            <a:extLst>
              <a:ext uri="{FF2B5EF4-FFF2-40B4-BE49-F238E27FC236}">
                <a16:creationId xmlns:a16="http://schemas.microsoft.com/office/drawing/2014/main" id="{5F10EC9B-6E62-0633-3F9C-EE88B35CE784}"/>
              </a:ext>
            </a:extLst>
          </p:cNvPr>
          <p:cNvSpPr/>
          <p:nvPr/>
        </p:nvSpPr>
        <p:spPr>
          <a:xfrm rot="1019348">
            <a:off x="2001118" y="5456762"/>
            <a:ext cx="1828800" cy="1741714"/>
          </a:xfrm>
          <a:prstGeom prst="diamond">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5400" b="1" dirty="0">
                <a:solidFill>
                  <a:srgbClr val="002060"/>
                </a:solidFill>
                <a:latin typeface="Algerian" panose="04020705040A02060702" pitchFamily="82" charset="0"/>
              </a:rPr>
              <a:t>E</a:t>
            </a:r>
          </a:p>
        </p:txBody>
      </p:sp>
      <p:sp>
        <p:nvSpPr>
          <p:cNvPr id="36" name="Rectangle 35">
            <a:extLst>
              <a:ext uri="{FF2B5EF4-FFF2-40B4-BE49-F238E27FC236}">
                <a16:creationId xmlns:a16="http://schemas.microsoft.com/office/drawing/2014/main" id="{2489B105-B1A1-D2C7-1018-282CB44D09B9}"/>
              </a:ext>
            </a:extLst>
          </p:cNvPr>
          <p:cNvSpPr/>
          <p:nvPr/>
        </p:nvSpPr>
        <p:spPr>
          <a:xfrm>
            <a:off x="7663286" y="38754"/>
            <a:ext cx="4528714" cy="220613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b="1" dirty="0">
                <a:solidFill>
                  <a:srgbClr val="002060"/>
                </a:solidFill>
                <a:latin typeface="Algerian" panose="04020705040A02060702" pitchFamily="82" charset="0"/>
              </a:rPr>
              <a:t>FUNDAMENTALS</a:t>
            </a:r>
          </a:p>
        </p:txBody>
      </p:sp>
    </p:spTree>
    <p:extLst>
      <p:ext uri="{BB962C8B-B14F-4D97-AF65-F5344CB8AC3E}">
        <p14:creationId xmlns:p14="http://schemas.microsoft.com/office/powerpoint/2010/main" val="10862738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C4E90-0EAF-8416-F9DE-58F644297A7D}"/>
              </a:ext>
            </a:extLst>
          </p:cNvPr>
          <p:cNvSpPr>
            <a:spLocks noGrp="1"/>
          </p:cNvSpPr>
          <p:nvPr>
            <p:ph type="title"/>
          </p:nvPr>
        </p:nvSpPr>
        <p:spPr/>
        <p:txBody>
          <a:bodyPr/>
          <a:lstStyle/>
          <a:p>
            <a:pPr algn="ctr"/>
            <a:r>
              <a:rPr lang="en-US" u="sng" dirty="0">
                <a:solidFill>
                  <a:srgbClr val="002060"/>
                </a:solidFill>
                <a:latin typeface="Algerian" panose="04020705040A02060702" pitchFamily="82" charset="0"/>
              </a:rPr>
              <a:t>ENTREPRENEURSHIP</a:t>
            </a:r>
          </a:p>
        </p:txBody>
      </p:sp>
      <p:sp>
        <p:nvSpPr>
          <p:cNvPr id="3" name="Content Placeholder 2">
            <a:extLst>
              <a:ext uri="{FF2B5EF4-FFF2-40B4-BE49-F238E27FC236}">
                <a16:creationId xmlns:a16="http://schemas.microsoft.com/office/drawing/2014/main" id="{223E51A9-D4D0-0CEB-F597-B92642139523}"/>
              </a:ext>
            </a:extLst>
          </p:cNvPr>
          <p:cNvSpPr>
            <a:spLocks noGrp="1"/>
          </p:cNvSpPr>
          <p:nvPr>
            <p:ph idx="1"/>
          </p:nvPr>
        </p:nvSpPr>
        <p:spPr>
          <a:xfrm>
            <a:off x="1484311" y="2220684"/>
            <a:ext cx="10018713" cy="3124201"/>
          </a:xfrm>
        </p:spPr>
        <p:txBody>
          <a:bodyPr>
            <a:normAutofit fontScale="77500" lnSpcReduction="20000"/>
          </a:bodyPr>
          <a:lstStyle/>
          <a:p>
            <a:pPr marL="0" indent="0">
              <a:buNone/>
            </a:pPr>
            <a:r>
              <a:rPr lang="en-US" sz="3200" b="1" dirty="0">
                <a:solidFill>
                  <a:srgbClr val="0070C0"/>
                </a:solidFill>
                <a:latin typeface="Arial Rounded MT Bold" panose="020F0704030504030204" pitchFamily="34" charset="0"/>
              </a:rPr>
              <a:t>Entrepreneurship is simply the setting up and running of one’s own business. It involves a person or a group of people identifying a commercial opportunity and acting upon it.</a:t>
            </a:r>
          </a:p>
          <a:p>
            <a:pPr marL="0" indent="0">
              <a:buNone/>
            </a:pPr>
            <a:r>
              <a:rPr lang="en-US" sz="3200" b="1" dirty="0">
                <a:solidFill>
                  <a:srgbClr val="0070C0"/>
                </a:solidFill>
                <a:latin typeface="Arial Rounded MT Bold" panose="020F0704030504030204" pitchFamily="34" charset="0"/>
              </a:rPr>
              <a:t>					Entrepreneurship is the collection of skills that an entrepreneur possesses. An  entrepreneurship builds or creates something of value by using a combination of people their skills, equipment, money, and the markets.    </a:t>
            </a:r>
          </a:p>
        </p:txBody>
      </p:sp>
    </p:spTree>
    <p:extLst>
      <p:ext uri="{BB962C8B-B14F-4D97-AF65-F5344CB8AC3E}">
        <p14:creationId xmlns:p14="http://schemas.microsoft.com/office/powerpoint/2010/main" val="3158005294"/>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C4E90-0EAF-8416-F9DE-58F644297A7D}"/>
              </a:ext>
            </a:extLst>
          </p:cNvPr>
          <p:cNvSpPr>
            <a:spLocks noGrp="1"/>
          </p:cNvSpPr>
          <p:nvPr>
            <p:ph type="title"/>
          </p:nvPr>
        </p:nvSpPr>
        <p:spPr>
          <a:xfrm>
            <a:off x="1196623" y="839257"/>
            <a:ext cx="10515600" cy="1325563"/>
          </a:xfrm>
        </p:spPr>
        <p:txBody>
          <a:bodyPr/>
          <a:lstStyle/>
          <a:p>
            <a:pPr algn="ctr"/>
            <a:r>
              <a:rPr lang="en-US" b="1" u="sng" dirty="0">
                <a:solidFill>
                  <a:srgbClr val="002060"/>
                </a:solidFill>
                <a:latin typeface="Algerian" panose="04020705040A02060702" pitchFamily="82" charset="0"/>
              </a:rPr>
              <a:t>TYPES OF ENTREPRENEURSHIP</a:t>
            </a:r>
          </a:p>
        </p:txBody>
      </p:sp>
      <p:sp>
        <p:nvSpPr>
          <p:cNvPr id="3" name="Content Placeholder 2">
            <a:extLst>
              <a:ext uri="{FF2B5EF4-FFF2-40B4-BE49-F238E27FC236}">
                <a16:creationId xmlns:a16="http://schemas.microsoft.com/office/drawing/2014/main" id="{223E51A9-D4D0-0CEB-F597-B92642139523}"/>
              </a:ext>
            </a:extLst>
          </p:cNvPr>
          <p:cNvSpPr>
            <a:spLocks noGrp="1"/>
          </p:cNvSpPr>
          <p:nvPr>
            <p:ph idx="1"/>
          </p:nvPr>
        </p:nvSpPr>
        <p:spPr>
          <a:xfrm>
            <a:off x="1556657" y="2164821"/>
            <a:ext cx="10257165" cy="3113314"/>
          </a:xfrm>
        </p:spPr>
        <p:txBody>
          <a:bodyPr>
            <a:normAutofit fontScale="77500" lnSpcReduction="20000"/>
          </a:bodyPr>
          <a:lstStyle/>
          <a:p>
            <a:pPr marL="0" indent="0">
              <a:buNone/>
            </a:pPr>
            <a:r>
              <a:rPr lang="en-US" sz="3200" b="1" dirty="0">
                <a:solidFill>
                  <a:srgbClr val="0070C0"/>
                </a:solidFill>
                <a:latin typeface="Arial Rounded MT Bold" panose="020F0704030504030204" pitchFamily="34" charset="0"/>
              </a:rPr>
              <a:t> Entrepreneurship can be divided into different types on the basis of various criteria such as:</a:t>
            </a:r>
          </a:p>
          <a:p>
            <a:pPr>
              <a:buFont typeface="Wingdings" panose="05000000000000000000" pitchFamily="2" charset="2"/>
              <a:buChar char="v"/>
            </a:pPr>
            <a:r>
              <a:rPr lang="en-US" sz="3200" b="1" dirty="0">
                <a:solidFill>
                  <a:srgbClr val="0070C0"/>
                </a:solidFill>
                <a:latin typeface="Arial Rounded MT Bold" panose="020F0704030504030204" pitchFamily="34" charset="0"/>
              </a:rPr>
              <a:t>	Business type</a:t>
            </a:r>
          </a:p>
          <a:p>
            <a:pPr>
              <a:buFont typeface="Wingdings" panose="05000000000000000000" pitchFamily="2" charset="2"/>
              <a:buChar char="v"/>
            </a:pPr>
            <a:r>
              <a:rPr lang="en-US" sz="3200" b="1" dirty="0">
                <a:solidFill>
                  <a:srgbClr val="0070C0"/>
                </a:solidFill>
                <a:latin typeface="Arial Rounded MT Bold" panose="020F0704030504030204" pitchFamily="34" charset="0"/>
              </a:rPr>
              <a:t>	Technology</a:t>
            </a:r>
          </a:p>
          <a:p>
            <a:pPr>
              <a:buFont typeface="Wingdings" panose="05000000000000000000" pitchFamily="2" charset="2"/>
              <a:buChar char="v"/>
            </a:pPr>
            <a:r>
              <a:rPr lang="en-US" sz="3200" b="1" dirty="0">
                <a:solidFill>
                  <a:srgbClr val="0070C0"/>
                </a:solidFill>
                <a:latin typeface="Arial Rounded MT Bold" panose="020F0704030504030204" pitchFamily="34" charset="0"/>
              </a:rPr>
              <a:t>	Ownership</a:t>
            </a:r>
          </a:p>
          <a:p>
            <a:pPr>
              <a:buFont typeface="Wingdings" panose="05000000000000000000" pitchFamily="2" charset="2"/>
              <a:buChar char="v"/>
            </a:pPr>
            <a:r>
              <a:rPr lang="en-US" sz="3200" b="1" dirty="0">
                <a:solidFill>
                  <a:srgbClr val="0070C0"/>
                </a:solidFill>
                <a:latin typeface="Arial Rounded MT Bold" panose="020F0704030504030204" pitchFamily="34" charset="0"/>
              </a:rPr>
              <a:t>	Size of business </a:t>
            </a:r>
          </a:p>
          <a:p>
            <a:pPr>
              <a:buFont typeface="Wingdings" panose="05000000000000000000" pitchFamily="2" charset="2"/>
              <a:buChar char="v"/>
            </a:pPr>
            <a:r>
              <a:rPr lang="en-US" sz="3200" b="1" dirty="0">
                <a:solidFill>
                  <a:srgbClr val="0070C0"/>
                </a:solidFill>
                <a:latin typeface="Arial Rounded MT Bold" panose="020F0704030504030204" pitchFamily="34" charset="0"/>
              </a:rPr>
              <a:t>	Personal traits</a:t>
            </a:r>
          </a:p>
        </p:txBody>
      </p:sp>
    </p:spTree>
    <p:extLst>
      <p:ext uri="{BB962C8B-B14F-4D97-AF65-F5344CB8AC3E}">
        <p14:creationId xmlns:p14="http://schemas.microsoft.com/office/powerpoint/2010/main" val="2229757040"/>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CC30-7A10-0D3E-C76F-3A54D8FE13CF}"/>
              </a:ext>
            </a:extLst>
          </p:cNvPr>
          <p:cNvSpPr>
            <a:spLocks noGrp="1"/>
          </p:cNvSpPr>
          <p:nvPr>
            <p:ph type="title"/>
          </p:nvPr>
        </p:nvSpPr>
        <p:spPr>
          <a:xfrm>
            <a:off x="1807029" y="0"/>
            <a:ext cx="10308771" cy="1095022"/>
          </a:xfrm>
        </p:spPr>
        <p:txBody>
          <a:bodyPr>
            <a:normAutofit/>
          </a:bodyPr>
          <a:lstStyle/>
          <a:p>
            <a:r>
              <a:rPr lang="en-US" b="1" u="sng" dirty="0">
                <a:solidFill>
                  <a:srgbClr val="002060"/>
                </a:solidFill>
                <a:latin typeface="Algerian" panose="04020705040A02060702" pitchFamily="82" charset="0"/>
              </a:rPr>
              <a:t>PROCESS OF BEING </a:t>
            </a:r>
            <a:r>
              <a:rPr lang="en-US" b="1" u="sng" dirty="0" err="1">
                <a:solidFill>
                  <a:srgbClr val="002060"/>
                </a:solidFill>
                <a:latin typeface="Algerian" panose="04020705040A02060702" pitchFamily="82" charset="0"/>
              </a:rPr>
              <a:t>ENTREPRENEUr</a:t>
            </a:r>
            <a:endParaRPr lang="en-US" b="1" u="sng" dirty="0">
              <a:solidFill>
                <a:srgbClr val="002060"/>
              </a:solidFill>
              <a:latin typeface="Algerian" panose="04020705040A02060702" pitchFamily="82" charset="0"/>
            </a:endParaRPr>
          </a:p>
        </p:txBody>
      </p:sp>
      <p:sp>
        <p:nvSpPr>
          <p:cNvPr id="3" name="TextBox 2">
            <a:extLst>
              <a:ext uri="{FF2B5EF4-FFF2-40B4-BE49-F238E27FC236}">
                <a16:creationId xmlns:a16="http://schemas.microsoft.com/office/drawing/2014/main" id="{1B1340AE-B6DA-CDE7-D444-E1AC9D807A82}"/>
              </a:ext>
            </a:extLst>
          </p:cNvPr>
          <p:cNvSpPr txBox="1"/>
          <p:nvPr/>
        </p:nvSpPr>
        <p:spPr>
          <a:xfrm>
            <a:off x="564445" y="1207911"/>
            <a:ext cx="10667999" cy="523220"/>
          </a:xfrm>
          <a:prstGeom prst="rect">
            <a:avLst/>
          </a:prstGeom>
          <a:noFill/>
        </p:spPr>
        <p:txBody>
          <a:bodyPr wrap="square" rtlCol="0">
            <a:spAutoFit/>
          </a:bodyPr>
          <a:lstStyle/>
          <a:p>
            <a:r>
              <a:rPr lang="en-US" sz="2800" b="1" dirty="0">
                <a:solidFill>
                  <a:srgbClr val="002060"/>
                </a:solidFill>
                <a:latin typeface="Arial Rounded MT Bold" panose="020F0704030504030204" pitchFamily="34" charset="0"/>
              </a:rPr>
              <a:t>		For being a entrepreneur, you must follow these steps:</a:t>
            </a:r>
          </a:p>
        </p:txBody>
      </p:sp>
      <p:sp>
        <p:nvSpPr>
          <p:cNvPr id="4" name="Rectangle: Rounded Corners 3">
            <a:extLst>
              <a:ext uri="{FF2B5EF4-FFF2-40B4-BE49-F238E27FC236}">
                <a16:creationId xmlns:a16="http://schemas.microsoft.com/office/drawing/2014/main" id="{CB5ED437-AD5B-DC24-3B98-C3943920B49A}"/>
              </a:ext>
            </a:extLst>
          </p:cNvPr>
          <p:cNvSpPr/>
          <p:nvPr/>
        </p:nvSpPr>
        <p:spPr>
          <a:xfrm>
            <a:off x="1465944" y="2053878"/>
            <a:ext cx="8184444" cy="703843"/>
          </a:xfrm>
          <a:prstGeom prst="roundRect">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solidFill>
                  <a:srgbClr val="002060"/>
                </a:solidFill>
                <a:latin typeface="Arial Rounded MT Bold" panose="020F0704030504030204" pitchFamily="34" charset="0"/>
              </a:rPr>
              <a:t>Generating a core idea</a:t>
            </a:r>
          </a:p>
        </p:txBody>
      </p:sp>
      <p:sp>
        <p:nvSpPr>
          <p:cNvPr id="5" name="Rectangle: Rounded Corners 4">
            <a:extLst>
              <a:ext uri="{FF2B5EF4-FFF2-40B4-BE49-F238E27FC236}">
                <a16:creationId xmlns:a16="http://schemas.microsoft.com/office/drawing/2014/main" id="{14570E98-960E-D56D-0FFF-D749ACC99F0E}"/>
              </a:ext>
            </a:extLst>
          </p:cNvPr>
          <p:cNvSpPr/>
          <p:nvPr/>
        </p:nvSpPr>
        <p:spPr>
          <a:xfrm>
            <a:off x="2206977" y="2979265"/>
            <a:ext cx="7969955" cy="703844"/>
          </a:xfrm>
          <a:prstGeom prst="round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solidFill>
                  <a:srgbClr val="002060"/>
                </a:solidFill>
                <a:latin typeface="Arial Rounded MT Bold" panose="020F0704030504030204" pitchFamily="34" charset="0"/>
              </a:rPr>
              <a:t>Drafting a business plan</a:t>
            </a:r>
          </a:p>
        </p:txBody>
      </p:sp>
      <p:sp>
        <p:nvSpPr>
          <p:cNvPr id="6" name="Rectangle: Rounded Corners 5">
            <a:extLst>
              <a:ext uri="{FF2B5EF4-FFF2-40B4-BE49-F238E27FC236}">
                <a16:creationId xmlns:a16="http://schemas.microsoft.com/office/drawing/2014/main" id="{D8ABF4B6-8845-971A-3786-3E8C04493A46}"/>
              </a:ext>
            </a:extLst>
          </p:cNvPr>
          <p:cNvSpPr/>
          <p:nvPr/>
        </p:nvSpPr>
        <p:spPr>
          <a:xfrm>
            <a:off x="2460978" y="3865446"/>
            <a:ext cx="8116712" cy="703844"/>
          </a:xfrm>
          <a:prstGeom prst="roundRect">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solidFill>
                  <a:srgbClr val="002060"/>
                </a:solidFill>
                <a:latin typeface="Arial Rounded MT Bold" panose="020F0704030504030204" pitchFamily="34" charset="0"/>
              </a:rPr>
              <a:t>Financing the business venture</a:t>
            </a:r>
          </a:p>
        </p:txBody>
      </p:sp>
      <p:sp>
        <p:nvSpPr>
          <p:cNvPr id="7" name="Rectangle: Rounded Corners 6">
            <a:extLst>
              <a:ext uri="{FF2B5EF4-FFF2-40B4-BE49-F238E27FC236}">
                <a16:creationId xmlns:a16="http://schemas.microsoft.com/office/drawing/2014/main" id="{689163AC-CF27-181F-00CE-DFC94175BE7C}"/>
              </a:ext>
            </a:extLst>
          </p:cNvPr>
          <p:cNvSpPr/>
          <p:nvPr/>
        </p:nvSpPr>
        <p:spPr>
          <a:xfrm>
            <a:off x="3364086" y="4751627"/>
            <a:ext cx="7778047" cy="703844"/>
          </a:xfrm>
          <a:prstGeom prst="round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solidFill>
                  <a:srgbClr val="002060"/>
                </a:solidFill>
                <a:latin typeface="Arial Rounded MT Bold" panose="020F0704030504030204" pitchFamily="34" charset="0"/>
              </a:rPr>
              <a:t>Stating the business venture</a:t>
            </a:r>
          </a:p>
        </p:txBody>
      </p:sp>
      <p:sp>
        <p:nvSpPr>
          <p:cNvPr id="8" name="Rectangle: Rounded Corners 7">
            <a:extLst>
              <a:ext uri="{FF2B5EF4-FFF2-40B4-BE49-F238E27FC236}">
                <a16:creationId xmlns:a16="http://schemas.microsoft.com/office/drawing/2014/main" id="{A27D0789-0178-D1D8-797D-320F09E9B0DB}"/>
              </a:ext>
            </a:extLst>
          </p:cNvPr>
          <p:cNvSpPr/>
          <p:nvPr/>
        </p:nvSpPr>
        <p:spPr>
          <a:xfrm>
            <a:off x="4018844" y="5637808"/>
            <a:ext cx="7913511" cy="703844"/>
          </a:xfrm>
          <a:prstGeom prst="roundRect">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solidFill>
                  <a:srgbClr val="002060"/>
                </a:solidFill>
                <a:latin typeface="Arial Rounded MT Bold" panose="020F0704030504030204" pitchFamily="34" charset="0"/>
              </a:rPr>
              <a:t>Managing the business</a:t>
            </a:r>
          </a:p>
        </p:txBody>
      </p:sp>
      <p:sp>
        <p:nvSpPr>
          <p:cNvPr id="11" name="Arrow: Down 10">
            <a:extLst>
              <a:ext uri="{FF2B5EF4-FFF2-40B4-BE49-F238E27FC236}">
                <a16:creationId xmlns:a16="http://schemas.microsoft.com/office/drawing/2014/main" id="{0647A439-5941-BDC9-7AD7-9E6F088C1CDC}"/>
              </a:ext>
            </a:extLst>
          </p:cNvPr>
          <p:cNvSpPr/>
          <p:nvPr/>
        </p:nvSpPr>
        <p:spPr>
          <a:xfrm>
            <a:off x="8647289" y="2537535"/>
            <a:ext cx="654756" cy="703844"/>
          </a:xfrm>
          <a:prstGeom prst="downArrow">
            <a:avLst/>
          </a:prstGeom>
          <a:solidFill>
            <a:schemeClr val="bg2">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2" name="Arrow: Down 11">
            <a:extLst>
              <a:ext uri="{FF2B5EF4-FFF2-40B4-BE49-F238E27FC236}">
                <a16:creationId xmlns:a16="http://schemas.microsoft.com/office/drawing/2014/main" id="{F84562EC-D8DB-424A-F247-2594397B18F9}"/>
              </a:ext>
            </a:extLst>
          </p:cNvPr>
          <p:cNvSpPr/>
          <p:nvPr/>
        </p:nvSpPr>
        <p:spPr>
          <a:xfrm>
            <a:off x="9522176" y="3331187"/>
            <a:ext cx="654756" cy="703844"/>
          </a:xfrm>
          <a:prstGeom prst="downArrow">
            <a:avLst/>
          </a:prstGeom>
          <a:solidFill>
            <a:schemeClr val="bg2">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3" name="Arrow: Down 12">
            <a:extLst>
              <a:ext uri="{FF2B5EF4-FFF2-40B4-BE49-F238E27FC236}">
                <a16:creationId xmlns:a16="http://schemas.microsoft.com/office/drawing/2014/main" id="{42713A84-38BD-B4B1-693C-9BF2D0E3AD16}"/>
              </a:ext>
            </a:extLst>
          </p:cNvPr>
          <p:cNvSpPr/>
          <p:nvPr/>
        </p:nvSpPr>
        <p:spPr>
          <a:xfrm>
            <a:off x="10007600" y="4308537"/>
            <a:ext cx="654756" cy="703844"/>
          </a:xfrm>
          <a:prstGeom prst="downArrow">
            <a:avLst/>
          </a:prstGeom>
          <a:solidFill>
            <a:schemeClr val="bg2">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Arrow: Down 13">
            <a:extLst>
              <a:ext uri="{FF2B5EF4-FFF2-40B4-BE49-F238E27FC236}">
                <a16:creationId xmlns:a16="http://schemas.microsoft.com/office/drawing/2014/main" id="{88EE07AB-44CF-36B6-FDED-A96BE34EDD06}"/>
              </a:ext>
            </a:extLst>
          </p:cNvPr>
          <p:cNvSpPr/>
          <p:nvPr/>
        </p:nvSpPr>
        <p:spPr>
          <a:xfrm>
            <a:off x="10487377" y="5249304"/>
            <a:ext cx="654756" cy="703844"/>
          </a:xfrm>
          <a:prstGeom prst="downArrow">
            <a:avLst/>
          </a:prstGeom>
          <a:solidFill>
            <a:schemeClr val="bg2">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1042295545"/>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L-Shape 13">
            <a:extLst>
              <a:ext uri="{FF2B5EF4-FFF2-40B4-BE49-F238E27FC236}">
                <a16:creationId xmlns:a16="http://schemas.microsoft.com/office/drawing/2014/main" id="{BC04A481-4800-CF45-219E-25BEB43B0A94}"/>
              </a:ext>
            </a:extLst>
          </p:cNvPr>
          <p:cNvSpPr/>
          <p:nvPr/>
        </p:nvSpPr>
        <p:spPr>
          <a:xfrm>
            <a:off x="6969939" y="4686301"/>
            <a:ext cx="516146" cy="620487"/>
          </a:xfrm>
          <a:prstGeom prst="corner">
            <a:avLst/>
          </a:prstGeom>
          <a:solidFill>
            <a:srgbClr val="00B0F0"/>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5" name="L-Shape 14">
            <a:extLst>
              <a:ext uri="{FF2B5EF4-FFF2-40B4-BE49-F238E27FC236}">
                <a16:creationId xmlns:a16="http://schemas.microsoft.com/office/drawing/2014/main" id="{1DE44017-98B0-4EFB-2B73-5E4E4CB465CF}"/>
              </a:ext>
            </a:extLst>
          </p:cNvPr>
          <p:cNvSpPr/>
          <p:nvPr/>
        </p:nvSpPr>
        <p:spPr>
          <a:xfrm>
            <a:off x="4328799" y="4637312"/>
            <a:ext cx="516146" cy="620487"/>
          </a:xfrm>
          <a:prstGeom prst="corner">
            <a:avLst/>
          </a:prstGeom>
          <a:solidFill>
            <a:srgbClr val="00B0F0"/>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3" name="L-Shape 12">
            <a:extLst>
              <a:ext uri="{FF2B5EF4-FFF2-40B4-BE49-F238E27FC236}">
                <a16:creationId xmlns:a16="http://schemas.microsoft.com/office/drawing/2014/main" id="{CA5D40D9-4AD3-571D-3604-CB4E99BBA850}"/>
              </a:ext>
            </a:extLst>
          </p:cNvPr>
          <p:cNvSpPr/>
          <p:nvPr/>
        </p:nvSpPr>
        <p:spPr>
          <a:xfrm>
            <a:off x="9538400" y="4637312"/>
            <a:ext cx="516146" cy="620487"/>
          </a:xfrm>
          <a:prstGeom prst="corner">
            <a:avLst/>
          </a:prstGeom>
          <a:solidFill>
            <a:srgbClr val="00B0F0"/>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 name="Title 1">
            <a:extLst>
              <a:ext uri="{FF2B5EF4-FFF2-40B4-BE49-F238E27FC236}">
                <a16:creationId xmlns:a16="http://schemas.microsoft.com/office/drawing/2014/main" id="{028532E5-43CB-FEED-B73B-5BB65792075A}"/>
              </a:ext>
            </a:extLst>
          </p:cNvPr>
          <p:cNvSpPr>
            <a:spLocks noGrp="1"/>
          </p:cNvSpPr>
          <p:nvPr>
            <p:ph type="title"/>
          </p:nvPr>
        </p:nvSpPr>
        <p:spPr>
          <a:xfrm>
            <a:off x="1651111" y="206828"/>
            <a:ext cx="10018713" cy="587829"/>
          </a:xfrm>
        </p:spPr>
        <p:txBody>
          <a:bodyPr>
            <a:normAutofit fontScale="90000"/>
          </a:bodyPr>
          <a:lstStyle/>
          <a:p>
            <a:r>
              <a:rPr lang="en-US" b="1" u="sng" dirty="0">
                <a:solidFill>
                  <a:srgbClr val="002060"/>
                </a:solidFill>
                <a:latin typeface="Algerian" panose="04020705040A02060702" pitchFamily="82" charset="0"/>
              </a:rPr>
              <a:t>TEAM:</a:t>
            </a:r>
          </a:p>
        </p:txBody>
      </p:sp>
      <p:sp>
        <p:nvSpPr>
          <p:cNvPr id="3" name="Content Placeholder 2">
            <a:extLst>
              <a:ext uri="{FF2B5EF4-FFF2-40B4-BE49-F238E27FC236}">
                <a16:creationId xmlns:a16="http://schemas.microsoft.com/office/drawing/2014/main" id="{06A833F3-CFE0-C481-3A1C-0EB6DDFC7441}"/>
              </a:ext>
            </a:extLst>
          </p:cNvPr>
          <p:cNvSpPr>
            <a:spLocks noGrp="1"/>
          </p:cNvSpPr>
          <p:nvPr>
            <p:ph idx="1"/>
          </p:nvPr>
        </p:nvSpPr>
        <p:spPr>
          <a:xfrm>
            <a:off x="1767797" y="881741"/>
            <a:ext cx="10018713" cy="3124201"/>
          </a:xfrm>
        </p:spPr>
        <p:txBody>
          <a:bodyPr>
            <a:normAutofit lnSpcReduction="10000"/>
          </a:bodyPr>
          <a:lstStyle/>
          <a:p>
            <a:pPr marL="0" indent="0">
              <a:buNone/>
            </a:pPr>
            <a:r>
              <a:rPr lang="en-US" b="1" dirty="0">
                <a:solidFill>
                  <a:srgbClr val="0070C0"/>
                </a:solidFill>
                <a:latin typeface="Arial Rounded MT Bold" panose="020F0704030504030204" pitchFamily="34" charset="0"/>
              </a:rPr>
              <a:t>A team can be divided as a group of people working together towards a similar goal or cause. A team can have people of different backgrounds nationality, age and experiences.</a:t>
            </a:r>
          </a:p>
          <a:p>
            <a:pPr marL="0" indent="0">
              <a:buNone/>
            </a:pPr>
            <a:r>
              <a:rPr lang="en-US" b="1" dirty="0">
                <a:solidFill>
                  <a:srgbClr val="0070C0"/>
                </a:solidFill>
                <a:latin typeface="Arial Rounded MT Bold" panose="020F0704030504030204" pitchFamily="34" charset="0"/>
              </a:rPr>
              <a:t>					An intelligent entrepreneur knows that a team which stays together is strong and contributes to the organization’s success.</a:t>
            </a:r>
          </a:p>
          <a:p>
            <a:pPr marL="0" indent="0" algn="ctr">
              <a:buNone/>
            </a:pPr>
            <a:r>
              <a:rPr lang="en-US" sz="3200" b="1" u="sng" dirty="0">
                <a:solidFill>
                  <a:srgbClr val="002060"/>
                </a:solidFill>
                <a:latin typeface="Algerian" panose="04020705040A02060702" pitchFamily="82" charset="0"/>
              </a:rPr>
              <a:t>TYPES OF TEAM PLAYER:</a:t>
            </a:r>
          </a:p>
          <a:p>
            <a:pPr marL="0" indent="0">
              <a:buNone/>
            </a:pPr>
            <a:endParaRPr lang="en-US" dirty="0"/>
          </a:p>
        </p:txBody>
      </p:sp>
      <p:sp>
        <p:nvSpPr>
          <p:cNvPr id="4" name="Rectangle: Rounded Corners 3">
            <a:extLst>
              <a:ext uri="{FF2B5EF4-FFF2-40B4-BE49-F238E27FC236}">
                <a16:creationId xmlns:a16="http://schemas.microsoft.com/office/drawing/2014/main" id="{2926899E-4066-BDD3-6E52-9E5C48C5CBFD}"/>
              </a:ext>
            </a:extLst>
          </p:cNvPr>
          <p:cNvSpPr/>
          <p:nvPr/>
        </p:nvSpPr>
        <p:spPr>
          <a:xfrm>
            <a:off x="1387134" y="3820885"/>
            <a:ext cx="2013857" cy="816429"/>
          </a:xfrm>
          <a:prstGeom prst="roundRect">
            <a:avLst/>
          </a:prstGeom>
          <a:solidFill>
            <a:schemeClr val="tx2">
              <a:lumMod val="50000"/>
              <a:lumOff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rPr>
              <a:t>COLLABORATOR</a:t>
            </a:r>
          </a:p>
        </p:txBody>
      </p:sp>
      <p:sp>
        <p:nvSpPr>
          <p:cNvPr id="5" name="Rectangle: Rounded Corners 4">
            <a:extLst>
              <a:ext uri="{FF2B5EF4-FFF2-40B4-BE49-F238E27FC236}">
                <a16:creationId xmlns:a16="http://schemas.microsoft.com/office/drawing/2014/main" id="{7B55550E-D68B-8E0D-F4B9-F7961B7AC53A}"/>
              </a:ext>
            </a:extLst>
          </p:cNvPr>
          <p:cNvSpPr/>
          <p:nvPr/>
        </p:nvSpPr>
        <p:spPr>
          <a:xfrm>
            <a:off x="4240048" y="3820884"/>
            <a:ext cx="2013857" cy="816429"/>
          </a:xfrm>
          <a:prstGeom prst="roundRect">
            <a:avLst/>
          </a:prstGeom>
          <a:solidFill>
            <a:schemeClr val="tx2">
              <a:lumMod val="50000"/>
              <a:lumOff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b="1" dirty="0"/>
              <a:t>CONTRIBUTOR</a:t>
            </a:r>
          </a:p>
        </p:txBody>
      </p:sp>
      <p:sp>
        <p:nvSpPr>
          <p:cNvPr id="6" name="Rectangle: Rounded Corners 5">
            <a:extLst>
              <a:ext uri="{FF2B5EF4-FFF2-40B4-BE49-F238E27FC236}">
                <a16:creationId xmlns:a16="http://schemas.microsoft.com/office/drawing/2014/main" id="{35B9C051-8750-7B26-5852-1D8CE58ECAFF}"/>
              </a:ext>
            </a:extLst>
          </p:cNvPr>
          <p:cNvSpPr/>
          <p:nvPr/>
        </p:nvSpPr>
        <p:spPr>
          <a:xfrm>
            <a:off x="6777154" y="3869872"/>
            <a:ext cx="2138246" cy="816429"/>
          </a:xfrm>
          <a:prstGeom prst="roundRect">
            <a:avLst/>
          </a:prstGeom>
          <a:solidFill>
            <a:schemeClr val="tx2">
              <a:lumMod val="50000"/>
              <a:lumOff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b="1" dirty="0"/>
              <a:t>COMMUNICATOR</a:t>
            </a:r>
          </a:p>
        </p:txBody>
      </p:sp>
      <p:sp>
        <p:nvSpPr>
          <p:cNvPr id="7" name="Rectangle: Rounded Corners 6">
            <a:extLst>
              <a:ext uri="{FF2B5EF4-FFF2-40B4-BE49-F238E27FC236}">
                <a16:creationId xmlns:a16="http://schemas.microsoft.com/office/drawing/2014/main" id="{64B5E567-7A30-CF91-BE54-99986A64B147}"/>
              </a:ext>
            </a:extLst>
          </p:cNvPr>
          <p:cNvSpPr/>
          <p:nvPr/>
        </p:nvSpPr>
        <p:spPr>
          <a:xfrm>
            <a:off x="9352418" y="3820883"/>
            <a:ext cx="2013857" cy="816429"/>
          </a:xfrm>
          <a:prstGeom prst="roundRect">
            <a:avLst/>
          </a:prstGeom>
          <a:solidFill>
            <a:schemeClr val="tx2">
              <a:lumMod val="50000"/>
              <a:lumOff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b="1" dirty="0"/>
              <a:t>CHALLENGER</a:t>
            </a:r>
          </a:p>
        </p:txBody>
      </p:sp>
      <p:sp>
        <p:nvSpPr>
          <p:cNvPr id="8" name="Rectangle: Rounded Corners 7">
            <a:extLst>
              <a:ext uri="{FF2B5EF4-FFF2-40B4-BE49-F238E27FC236}">
                <a16:creationId xmlns:a16="http://schemas.microsoft.com/office/drawing/2014/main" id="{E6C45E2B-CC59-4B09-C3E6-5DF163354F76}"/>
              </a:ext>
            </a:extLst>
          </p:cNvPr>
          <p:cNvSpPr/>
          <p:nvPr/>
        </p:nvSpPr>
        <p:spPr>
          <a:xfrm>
            <a:off x="2167257" y="4838700"/>
            <a:ext cx="1992086" cy="1317172"/>
          </a:xfrm>
          <a:prstGeom prst="round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Focused on the </a:t>
            </a:r>
            <a:r>
              <a:rPr lang="en-US" b="1" dirty="0">
                <a:solidFill>
                  <a:srgbClr val="002060"/>
                </a:solidFill>
                <a:latin typeface="Algerian" panose="04020705040A02060702" pitchFamily="82" charset="0"/>
              </a:rPr>
              <a:t>GOAL</a:t>
            </a:r>
          </a:p>
        </p:txBody>
      </p:sp>
      <p:sp>
        <p:nvSpPr>
          <p:cNvPr id="9" name="Rectangle: Rounded Corners 8">
            <a:extLst>
              <a:ext uri="{FF2B5EF4-FFF2-40B4-BE49-F238E27FC236}">
                <a16:creationId xmlns:a16="http://schemas.microsoft.com/office/drawing/2014/main" id="{DBC15CD4-5C1D-4DEC-6FE9-5E70CA1064B4}"/>
              </a:ext>
            </a:extLst>
          </p:cNvPr>
          <p:cNvSpPr/>
          <p:nvPr/>
        </p:nvSpPr>
        <p:spPr>
          <a:xfrm>
            <a:off x="4840300" y="4882242"/>
            <a:ext cx="1992086" cy="1317172"/>
          </a:xfrm>
          <a:prstGeom prst="round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Focused on the </a:t>
            </a:r>
            <a:r>
              <a:rPr lang="en-US" b="1" dirty="0">
                <a:solidFill>
                  <a:srgbClr val="002060"/>
                </a:solidFill>
                <a:latin typeface="Algerian" panose="04020705040A02060702" pitchFamily="82" charset="0"/>
              </a:rPr>
              <a:t>TASK</a:t>
            </a:r>
            <a:r>
              <a:rPr lang="en-US" dirty="0"/>
              <a:t> </a:t>
            </a:r>
          </a:p>
        </p:txBody>
      </p:sp>
      <p:sp>
        <p:nvSpPr>
          <p:cNvPr id="10" name="Rectangle: Rounded Corners 9">
            <a:extLst>
              <a:ext uri="{FF2B5EF4-FFF2-40B4-BE49-F238E27FC236}">
                <a16:creationId xmlns:a16="http://schemas.microsoft.com/office/drawing/2014/main" id="{57BB5CCC-52E3-E0BE-02A7-7C9E5DD24589}"/>
              </a:ext>
            </a:extLst>
          </p:cNvPr>
          <p:cNvSpPr/>
          <p:nvPr/>
        </p:nvSpPr>
        <p:spPr>
          <a:xfrm>
            <a:off x="7419807" y="4865914"/>
            <a:ext cx="1992086" cy="1317172"/>
          </a:xfrm>
          <a:prstGeom prst="round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Focused on the </a:t>
            </a:r>
            <a:r>
              <a:rPr lang="en-US" b="1" dirty="0">
                <a:solidFill>
                  <a:srgbClr val="002060"/>
                </a:solidFill>
                <a:latin typeface="Algerian" panose="04020705040A02060702" pitchFamily="82" charset="0"/>
              </a:rPr>
              <a:t>PROCESS</a:t>
            </a:r>
          </a:p>
        </p:txBody>
      </p:sp>
      <p:sp>
        <p:nvSpPr>
          <p:cNvPr id="11" name="Rectangle: Rounded Corners 10">
            <a:extLst>
              <a:ext uri="{FF2B5EF4-FFF2-40B4-BE49-F238E27FC236}">
                <a16:creationId xmlns:a16="http://schemas.microsoft.com/office/drawing/2014/main" id="{238A073E-B7A2-E295-28FE-7FC352B1A108}"/>
              </a:ext>
            </a:extLst>
          </p:cNvPr>
          <p:cNvSpPr/>
          <p:nvPr/>
        </p:nvSpPr>
        <p:spPr>
          <a:xfrm>
            <a:off x="9967461" y="4838700"/>
            <a:ext cx="1992086" cy="1317172"/>
          </a:xfrm>
          <a:prstGeom prst="round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t>Focused on the </a:t>
            </a:r>
            <a:r>
              <a:rPr lang="en-US" b="1" dirty="0">
                <a:solidFill>
                  <a:srgbClr val="002060"/>
                </a:solidFill>
                <a:latin typeface="Algerian" panose="04020705040A02060702" pitchFamily="82" charset="0"/>
              </a:rPr>
              <a:t>QUESTION</a:t>
            </a:r>
          </a:p>
        </p:txBody>
      </p:sp>
      <p:sp>
        <p:nvSpPr>
          <p:cNvPr id="12" name="L-Shape 11">
            <a:extLst>
              <a:ext uri="{FF2B5EF4-FFF2-40B4-BE49-F238E27FC236}">
                <a16:creationId xmlns:a16="http://schemas.microsoft.com/office/drawing/2014/main" id="{8CE9F06C-F1C5-6EA8-2A33-F33AC3B15CAD}"/>
              </a:ext>
            </a:extLst>
          </p:cNvPr>
          <p:cNvSpPr/>
          <p:nvPr/>
        </p:nvSpPr>
        <p:spPr>
          <a:xfrm>
            <a:off x="1651111" y="4637313"/>
            <a:ext cx="516146" cy="620487"/>
          </a:xfrm>
          <a:prstGeom prst="corner">
            <a:avLst/>
          </a:prstGeom>
          <a:solidFill>
            <a:srgbClr val="00B0F0"/>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982460799"/>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B138B-FCF1-B8E8-D3E6-4C0129533EB0}"/>
              </a:ext>
            </a:extLst>
          </p:cNvPr>
          <p:cNvSpPr>
            <a:spLocks noGrp="1"/>
          </p:cNvSpPr>
          <p:nvPr>
            <p:ph type="title"/>
          </p:nvPr>
        </p:nvSpPr>
        <p:spPr/>
        <p:txBody>
          <a:bodyPr/>
          <a:lstStyle/>
          <a:p>
            <a:r>
              <a:rPr lang="en-US" b="1" u="sng" dirty="0">
                <a:solidFill>
                  <a:srgbClr val="002060"/>
                </a:solidFill>
                <a:latin typeface="Algerian" panose="04020705040A02060702" pitchFamily="82" charset="0"/>
              </a:rPr>
              <a:t>TEAMWORK AND COLLABORATION</a:t>
            </a:r>
          </a:p>
        </p:txBody>
      </p:sp>
      <p:pic>
        <p:nvPicPr>
          <p:cNvPr id="5" name="Content Placeholder 4">
            <a:extLst>
              <a:ext uri="{FF2B5EF4-FFF2-40B4-BE49-F238E27FC236}">
                <a16:creationId xmlns:a16="http://schemas.microsoft.com/office/drawing/2014/main" id="{96C13650-20F0-C8E7-4896-EAB7CD5AC9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59836" y="2667000"/>
            <a:ext cx="2843188" cy="1524000"/>
          </a:xfrm>
          <a:prstGeom prst="rect">
            <a:avLst/>
          </a:prstGeom>
          <a:ln w="190500" cap="sq">
            <a:solidFill>
              <a:schemeClr val="accent1">
                <a:lumMod val="50000"/>
              </a:schemeClr>
            </a:solidFill>
            <a:prstDash val="solid"/>
            <a:miter lim="800000"/>
          </a:ln>
          <a:effectLst>
            <a:innerShdw blurRad="63500" dist="50800" dir="13500000">
              <a:prstClr val="black">
                <a:alpha val="50000"/>
              </a:prstClr>
            </a:inn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7" name="Picture 6">
            <a:extLst>
              <a:ext uri="{FF2B5EF4-FFF2-40B4-BE49-F238E27FC236}">
                <a16:creationId xmlns:a16="http://schemas.microsoft.com/office/drawing/2014/main" id="{4B93CBFA-956B-D820-A87A-BFCD515D0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1229" y="4562475"/>
            <a:ext cx="2761795" cy="1609725"/>
          </a:xfrm>
          <a:prstGeom prst="rect">
            <a:avLst/>
          </a:prstGeom>
          <a:ln w="190500" cap="sq">
            <a:solidFill>
              <a:schemeClr val="accent1">
                <a:lumMod val="50000"/>
              </a:schemeClr>
            </a:solidFill>
            <a:prstDash val="solid"/>
            <a:miter lim="800000"/>
          </a:ln>
          <a:effectLst>
            <a:innerShdw blurRad="63500" dist="50800" dir="13500000">
              <a:prstClr val="black">
                <a:alpha val="50000"/>
              </a:prstClr>
            </a:inn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9" name="TextBox 8">
            <a:extLst>
              <a:ext uri="{FF2B5EF4-FFF2-40B4-BE49-F238E27FC236}">
                <a16:creationId xmlns:a16="http://schemas.microsoft.com/office/drawing/2014/main" id="{4FC943AE-1EAA-E978-8106-E5098BCEEAAF}"/>
              </a:ext>
            </a:extLst>
          </p:cNvPr>
          <p:cNvSpPr txBox="1"/>
          <p:nvPr/>
        </p:nvSpPr>
        <p:spPr>
          <a:xfrm>
            <a:off x="1894114" y="2068286"/>
            <a:ext cx="6477000" cy="3970318"/>
          </a:xfrm>
          <a:prstGeom prst="rect">
            <a:avLst/>
          </a:prstGeom>
          <a:noFill/>
        </p:spPr>
        <p:txBody>
          <a:bodyPr wrap="square" rtlCol="0">
            <a:spAutoFit/>
          </a:bodyPr>
          <a:lstStyle/>
          <a:p>
            <a:r>
              <a:rPr lang="en-US" b="1" dirty="0">
                <a:solidFill>
                  <a:srgbClr val="0070C0"/>
                </a:solidFill>
                <a:latin typeface="Arial Rounded MT Bold" panose="020F0704030504030204" pitchFamily="34" charset="0"/>
              </a:rPr>
              <a:t>TEAMWORK:</a:t>
            </a:r>
          </a:p>
          <a:p>
            <a:endParaRPr lang="en-US" dirty="0"/>
          </a:p>
          <a:p>
            <a:r>
              <a:rPr lang="en-US" b="1" dirty="0">
                <a:solidFill>
                  <a:schemeClr val="accent1">
                    <a:lumMod val="75000"/>
                  </a:schemeClr>
                </a:solidFill>
                <a:latin typeface="Arial Rounded MT Bold" panose="020F0704030504030204" pitchFamily="34" charset="0"/>
              </a:rPr>
              <a:t>Team bring together varied types of people offer fresh perspectives and help find new solutions. Each individual member possesses skill, knowledge, expertise, experience and ability. </a:t>
            </a:r>
          </a:p>
          <a:p>
            <a:endParaRPr lang="en-US" dirty="0"/>
          </a:p>
          <a:p>
            <a:endParaRPr lang="en-US" dirty="0"/>
          </a:p>
          <a:p>
            <a:r>
              <a:rPr lang="en-US" b="1" dirty="0">
                <a:solidFill>
                  <a:srgbClr val="0070C0"/>
                </a:solidFill>
                <a:latin typeface="Arial Rounded MT Bold" panose="020F0704030504030204" pitchFamily="34" charset="0"/>
              </a:rPr>
              <a:t>COLLABORATION:</a:t>
            </a:r>
          </a:p>
          <a:p>
            <a:endParaRPr lang="en-US" dirty="0">
              <a:solidFill>
                <a:schemeClr val="accent1">
                  <a:lumMod val="75000"/>
                </a:schemeClr>
              </a:solidFill>
              <a:latin typeface="Arial Rounded MT Bold" panose="020F0704030504030204" pitchFamily="34" charset="0"/>
            </a:endParaRPr>
          </a:p>
          <a:p>
            <a:r>
              <a:rPr lang="en-US" dirty="0">
                <a:solidFill>
                  <a:schemeClr val="accent1">
                    <a:lumMod val="75000"/>
                  </a:schemeClr>
                </a:solidFill>
                <a:latin typeface="Arial Rounded MT Bold" panose="020F0704030504030204" pitchFamily="34" charset="0"/>
              </a:rPr>
              <a:t>Collaboration can be defined as the act of working along with other people to achieve something. Collaboration between different people can work out only when they all work together as one unit. </a:t>
            </a:r>
          </a:p>
        </p:txBody>
      </p:sp>
    </p:spTree>
    <p:extLst>
      <p:ext uri="{BB962C8B-B14F-4D97-AF65-F5344CB8AC3E}">
        <p14:creationId xmlns:p14="http://schemas.microsoft.com/office/powerpoint/2010/main" val="3094526580"/>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3F1D2-141F-47B6-F9E9-A60CF57DA437}"/>
              </a:ext>
            </a:extLst>
          </p:cNvPr>
          <p:cNvSpPr>
            <a:spLocks noGrp="1"/>
          </p:cNvSpPr>
          <p:nvPr>
            <p:ph type="title"/>
          </p:nvPr>
        </p:nvSpPr>
        <p:spPr>
          <a:xfrm>
            <a:off x="1647596" y="21771"/>
            <a:ext cx="10018713" cy="1045029"/>
          </a:xfrm>
        </p:spPr>
        <p:txBody>
          <a:bodyPr/>
          <a:lstStyle/>
          <a:p>
            <a:r>
              <a:rPr lang="en-US" b="1" u="sng" dirty="0">
                <a:solidFill>
                  <a:srgbClr val="002060"/>
                </a:solidFill>
                <a:latin typeface="Algerian" panose="04020705040A02060702" pitchFamily="82" charset="0"/>
              </a:rPr>
              <a:t>DIGITAL TRANSFORMATION</a:t>
            </a:r>
          </a:p>
        </p:txBody>
      </p:sp>
      <p:sp>
        <p:nvSpPr>
          <p:cNvPr id="4" name="TextBox 3">
            <a:extLst>
              <a:ext uri="{FF2B5EF4-FFF2-40B4-BE49-F238E27FC236}">
                <a16:creationId xmlns:a16="http://schemas.microsoft.com/office/drawing/2014/main" id="{89EF6077-9312-C9A4-1D4A-D1066BAC37AE}"/>
              </a:ext>
            </a:extLst>
          </p:cNvPr>
          <p:cNvSpPr txBox="1"/>
          <p:nvPr/>
        </p:nvSpPr>
        <p:spPr>
          <a:xfrm>
            <a:off x="1814740" y="887377"/>
            <a:ext cx="9902823" cy="1969770"/>
          </a:xfrm>
          <a:prstGeom prst="rect">
            <a:avLst/>
          </a:prstGeom>
          <a:noFill/>
        </p:spPr>
        <p:txBody>
          <a:bodyPr wrap="square" rtlCol="0">
            <a:spAutoFit/>
          </a:bodyPr>
          <a:lstStyle/>
          <a:p>
            <a:r>
              <a:rPr lang="en-US" b="1" dirty="0">
                <a:solidFill>
                  <a:srgbClr val="0070C0"/>
                </a:solidFill>
                <a:latin typeface="Arial Rounded MT Bold" panose="020F0704030504030204" pitchFamily="34" charset="0"/>
              </a:rPr>
              <a:t>Digital transformation is a continuous process and at the heart of its digitization. Digitization is the process of converting paper-based information to digital information with the help of various technologies such as internet, AI intelligence and so on</a:t>
            </a:r>
            <a:r>
              <a:rPr lang="en-US" dirty="0"/>
              <a:t>.</a:t>
            </a:r>
          </a:p>
          <a:p>
            <a:pPr algn="ctr"/>
            <a:r>
              <a:rPr lang="en-US" sz="3200" b="1" u="sng" dirty="0">
                <a:solidFill>
                  <a:srgbClr val="002060"/>
                </a:solidFill>
                <a:latin typeface="Algerian" panose="04020705040A02060702" pitchFamily="82" charset="0"/>
              </a:rPr>
              <a:t>BENEFITS:</a:t>
            </a:r>
          </a:p>
          <a:p>
            <a:r>
              <a:rPr lang="en-US" b="1" dirty="0">
                <a:solidFill>
                  <a:srgbClr val="0070C0"/>
                </a:solidFill>
              </a:rPr>
              <a:t>Digital transformation impact can be through better decision –making and results, internal process and capable employees</a:t>
            </a:r>
            <a:r>
              <a:rPr lang="en-US" dirty="0"/>
              <a:t>.</a:t>
            </a:r>
          </a:p>
        </p:txBody>
      </p:sp>
      <p:graphicFrame>
        <p:nvGraphicFramePr>
          <p:cNvPr id="7" name="Diagram 6">
            <a:extLst>
              <a:ext uri="{FF2B5EF4-FFF2-40B4-BE49-F238E27FC236}">
                <a16:creationId xmlns:a16="http://schemas.microsoft.com/office/drawing/2014/main" id="{9BF4844A-12D9-F85C-7954-BAE4FB568AF2}"/>
              </a:ext>
            </a:extLst>
          </p:cNvPr>
          <p:cNvGraphicFramePr/>
          <p:nvPr>
            <p:extLst>
              <p:ext uri="{D42A27DB-BD31-4B8C-83A1-F6EECF244321}">
                <p14:modId xmlns:p14="http://schemas.microsoft.com/office/powerpoint/2010/main" val="737423087"/>
              </p:ext>
            </p:extLst>
          </p:nvPr>
        </p:nvGraphicFramePr>
        <p:xfrm>
          <a:off x="1513114" y="2928257"/>
          <a:ext cx="2362199" cy="2057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0" name="Diagram 9">
            <a:extLst>
              <a:ext uri="{FF2B5EF4-FFF2-40B4-BE49-F238E27FC236}">
                <a16:creationId xmlns:a16="http://schemas.microsoft.com/office/drawing/2014/main" id="{E13A1D4D-1FB9-BD8A-A9A0-788ADC611DB5}"/>
              </a:ext>
            </a:extLst>
          </p:cNvPr>
          <p:cNvGraphicFramePr/>
          <p:nvPr>
            <p:extLst>
              <p:ext uri="{D42A27DB-BD31-4B8C-83A1-F6EECF244321}">
                <p14:modId xmlns:p14="http://schemas.microsoft.com/office/powerpoint/2010/main" val="2201328390"/>
              </p:ext>
            </p:extLst>
          </p:nvPr>
        </p:nvGraphicFramePr>
        <p:xfrm>
          <a:off x="4082143" y="2111829"/>
          <a:ext cx="3657600" cy="314325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2" name="Picture 11">
            <a:extLst>
              <a:ext uri="{FF2B5EF4-FFF2-40B4-BE49-F238E27FC236}">
                <a16:creationId xmlns:a16="http://schemas.microsoft.com/office/drawing/2014/main" id="{BBAEC059-47A2-AA5A-8DC5-650319511D7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989309" y="2928257"/>
            <a:ext cx="2154691" cy="1621972"/>
          </a:xfrm>
          <a:prstGeom prst="rect">
            <a:avLst/>
          </a:prstGeom>
        </p:spPr>
      </p:pic>
      <p:sp>
        <p:nvSpPr>
          <p:cNvPr id="13" name="TextBox 12">
            <a:extLst>
              <a:ext uri="{FF2B5EF4-FFF2-40B4-BE49-F238E27FC236}">
                <a16:creationId xmlns:a16="http://schemas.microsoft.com/office/drawing/2014/main" id="{F0ECC88D-870F-1532-A3E7-27E9B2CC981E}"/>
              </a:ext>
            </a:extLst>
          </p:cNvPr>
          <p:cNvSpPr txBox="1"/>
          <p:nvPr/>
        </p:nvSpPr>
        <p:spPr>
          <a:xfrm>
            <a:off x="6989308" y="4616406"/>
            <a:ext cx="2154691" cy="369332"/>
          </a:xfrm>
          <a:prstGeom prst="rect">
            <a:avLst/>
          </a:prstGeom>
          <a:noFill/>
        </p:spPr>
        <p:txBody>
          <a:bodyPr wrap="square" rtlCol="0">
            <a:spAutoFit/>
          </a:bodyPr>
          <a:lstStyle/>
          <a:p>
            <a:r>
              <a:rPr lang="en-US" dirty="0"/>
              <a:t>BRING DOWN RISK</a:t>
            </a:r>
          </a:p>
        </p:txBody>
      </p:sp>
      <p:pic>
        <p:nvPicPr>
          <p:cNvPr id="15" name="Picture 14">
            <a:extLst>
              <a:ext uri="{FF2B5EF4-FFF2-40B4-BE49-F238E27FC236}">
                <a16:creationId xmlns:a16="http://schemas.microsoft.com/office/drawing/2014/main" id="{02998AB5-DDF1-CE25-7231-CAA4A5FF5A1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663338" y="2942432"/>
            <a:ext cx="2209801" cy="1607797"/>
          </a:xfrm>
          <a:prstGeom prst="rect">
            <a:avLst/>
          </a:prstGeom>
        </p:spPr>
      </p:pic>
      <p:sp>
        <p:nvSpPr>
          <p:cNvPr id="17" name="TextBox 16">
            <a:extLst>
              <a:ext uri="{FF2B5EF4-FFF2-40B4-BE49-F238E27FC236}">
                <a16:creationId xmlns:a16="http://schemas.microsoft.com/office/drawing/2014/main" id="{ED6273A2-95E4-F475-2742-0DDAE23A85AD}"/>
              </a:ext>
            </a:extLst>
          </p:cNvPr>
          <p:cNvSpPr txBox="1"/>
          <p:nvPr/>
        </p:nvSpPr>
        <p:spPr>
          <a:xfrm>
            <a:off x="9663338" y="4616406"/>
            <a:ext cx="2054225" cy="646331"/>
          </a:xfrm>
          <a:prstGeom prst="rect">
            <a:avLst/>
          </a:prstGeom>
          <a:noFill/>
        </p:spPr>
        <p:txBody>
          <a:bodyPr wrap="square" rtlCol="0">
            <a:spAutoFit/>
          </a:bodyPr>
          <a:lstStyle/>
          <a:p>
            <a:r>
              <a:rPr lang="en-US" dirty="0"/>
              <a:t>INCREASE COLLABORATION</a:t>
            </a:r>
          </a:p>
        </p:txBody>
      </p:sp>
      <p:pic>
        <p:nvPicPr>
          <p:cNvPr id="19" name="Picture 18">
            <a:extLst>
              <a:ext uri="{FF2B5EF4-FFF2-40B4-BE49-F238E27FC236}">
                <a16:creationId xmlns:a16="http://schemas.microsoft.com/office/drawing/2014/main" id="{F17489E3-3D23-5FAB-6940-2A215A29047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396468" y="5255079"/>
            <a:ext cx="3028950" cy="1514475"/>
          </a:xfrm>
          <a:prstGeom prst="rect">
            <a:avLst/>
          </a:prstGeom>
        </p:spPr>
      </p:pic>
      <p:sp>
        <p:nvSpPr>
          <p:cNvPr id="20" name="TextBox 19">
            <a:extLst>
              <a:ext uri="{FF2B5EF4-FFF2-40B4-BE49-F238E27FC236}">
                <a16:creationId xmlns:a16="http://schemas.microsoft.com/office/drawing/2014/main" id="{C14A3A68-DB03-CDF5-8AF0-2AC26E60CE5E}"/>
              </a:ext>
            </a:extLst>
          </p:cNvPr>
          <p:cNvSpPr txBox="1"/>
          <p:nvPr/>
        </p:nvSpPr>
        <p:spPr>
          <a:xfrm>
            <a:off x="7609114" y="5791200"/>
            <a:ext cx="2209801" cy="646331"/>
          </a:xfrm>
          <a:prstGeom prst="rect">
            <a:avLst/>
          </a:prstGeom>
          <a:noFill/>
        </p:spPr>
        <p:txBody>
          <a:bodyPr wrap="square" rtlCol="0">
            <a:spAutoFit/>
          </a:bodyPr>
          <a:lstStyle/>
          <a:p>
            <a:r>
              <a:rPr lang="en-US" dirty="0"/>
              <a:t>LEVERAGE DIGITAL INNOVATIONS</a:t>
            </a:r>
          </a:p>
        </p:txBody>
      </p:sp>
    </p:spTree>
    <p:extLst>
      <p:ext uri="{BB962C8B-B14F-4D97-AF65-F5344CB8AC3E}">
        <p14:creationId xmlns:p14="http://schemas.microsoft.com/office/powerpoint/2010/main" val="2631588000"/>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7DB29-FF91-7387-B92C-EE6E9F08B606}"/>
              </a:ext>
            </a:extLst>
          </p:cNvPr>
          <p:cNvSpPr>
            <a:spLocks noGrp="1"/>
          </p:cNvSpPr>
          <p:nvPr>
            <p:ph type="title"/>
          </p:nvPr>
        </p:nvSpPr>
        <p:spPr>
          <a:xfrm>
            <a:off x="1636709" y="0"/>
            <a:ext cx="10018713" cy="1012371"/>
          </a:xfrm>
        </p:spPr>
        <p:txBody>
          <a:bodyPr/>
          <a:lstStyle/>
          <a:p>
            <a:r>
              <a:rPr lang="en-US" b="1" u="sng" dirty="0">
                <a:solidFill>
                  <a:srgbClr val="002060"/>
                </a:solidFill>
                <a:latin typeface="Algerian" panose="04020705040A02060702" pitchFamily="82" charset="0"/>
              </a:rPr>
              <a:t>SOCIAL MEDIA</a:t>
            </a:r>
          </a:p>
        </p:txBody>
      </p:sp>
      <p:sp>
        <p:nvSpPr>
          <p:cNvPr id="4" name="TextBox 3">
            <a:extLst>
              <a:ext uri="{FF2B5EF4-FFF2-40B4-BE49-F238E27FC236}">
                <a16:creationId xmlns:a16="http://schemas.microsoft.com/office/drawing/2014/main" id="{CA0C256B-6161-3E8B-0113-7B40142DA085}"/>
              </a:ext>
            </a:extLst>
          </p:cNvPr>
          <p:cNvSpPr txBox="1"/>
          <p:nvPr/>
        </p:nvSpPr>
        <p:spPr>
          <a:xfrm>
            <a:off x="1730829" y="1208314"/>
            <a:ext cx="10018713" cy="4001095"/>
          </a:xfrm>
          <a:prstGeom prst="rect">
            <a:avLst/>
          </a:prstGeom>
          <a:noFill/>
        </p:spPr>
        <p:txBody>
          <a:bodyPr wrap="square" rtlCol="0">
            <a:spAutoFit/>
          </a:bodyPr>
          <a:lstStyle/>
          <a:p>
            <a:r>
              <a:rPr lang="en-US" b="1" dirty="0">
                <a:solidFill>
                  <a:srgbClr val="0070C0"/>
                </a:solidFill>
                <a:latin typeface="Arial Rounded MT Bold" panose="020F0704030504030204" pitchFamily="34" charset="0"/>
              </a:rPr>
              <a:t>Communication that is based on digital technology such as the internet is known as social media. Social media is  truly a powerful and key driver of digital transformation . It plays a very important role in today’s society and a company’s communication strategy.</a:t>
            </a:r>
          </a:p>
          <a:p>
            <a:endParaRPr lang="en-US" b="1" dirty="0">
              <a:solidFill>
                <a:srgbClr val="0070C0"/>
              </a:solidFill>
              <a:latin typeface="Arial Rounded MT Bold" panose="020F0704030504030204" pitchFamily="34" charset="0"/>
            </a:endParaRPr>
          </a:p>
          <a:p>
            <a:pPr algn="ctr"/>
            <a:r>
              <a:rPr lang="en-US" sz="2800" b="1" u="sng" dirty="0">
                <a:solidFill>
                  <a:srgbClr val="002060"/>
                </a:solidFill>
                <a:latin typeface="Algerian" panose="04020705040A02060702" pitchFamily="82" charset="0"/>
              </a:rPr>
              <a:t>PLATFORMS:</a:t>
            </a:r>
          </a:p>
          <a:p>
            <a:pPr algn="ctr"/>
            <a:endParaRPr lang="en-US" sz="2800" b="1" u="sng" dirty="0">
              <a:solidFill>
                <a:srgbClr val="002060"/>
              </a:solidFill>
              <a:latin typeface="Algerian" panose="04020705040A02060702" pitchFamily="82" charset="0"/>
            </a:endParaRPr>
          </a:p>
          <a:p>
            <a:r>
              <a:rPr lang="en-US" b="1" dirty="0">
                <a:solidFill>
                  <a:srgbClr val="0070C0"/>
                </a:solidFill>
                <a:latin typeface="Arial Rounded MT Bold" panose="020F0704030504030204" pitchFamily="34" charset="0"/>
              </a:rPr>
              <a:t>Some example of social-media are as follows:</a:t>
            </a:r>
          </a:p>
          <a:p>
            <a:pPr marL="285750" indent="-285750">
              <a:buFont typeface="Wingdings" panose="05000000000000000000" pitchFamily="2" charset="2"/>
              <a:buChar char="q"/>
            </a:pPr>
            <a:r>
              <a:rPr lang="en-US" b="1" dirty="0">
                <a:solidFill>
                  <a:srgbClr val="0070C0"/>
                </a:solidFill>
                <a:latin typeface="Arial Rounded MT Bold" panose="020F0704030504030204" pitchFamily="34" charset="0"/>
              </a:rPr>
              <a:t>Blogs</a:t>
            </a:r>
          </a:p>
          <a:p>
            <a:pPr marL="285750" indent="-285750">
              <a:buFont typeface="Wingdings" panose="05000000000000000000" pitchFamily="2" charset="2"/>
              <a:buChar char="q"/>
            </a:pPr>
            <a:r>
              <a:rPr lang="en-US" b="1" dirty="0">
                <a:solidFill>
                  <a:srgbClr val="0070C0"/>
                </a:solidFill>
                <a:latin typeface="Arial Rounded MT Bold" panose="020F0704030504030204" pitchFamily="34" charset="0"/>
              </a:rPr>
              <a:t>Social networking application</a:t>
            </a:r>
          </a:p>
          <a:p>
            <a:pPr marL="285750" indent="-285750">
              <a:buFont typeface="Wingdings" panose="05000000000000000000" pitchFamily="2" charset="2"/>
              <a:buChar char="q"/>
            </a:pPr>
            <a:r>
              <a:rPr lang="en-US" b="1" dirty="0">
                <a:solidFill>
                  <a:srgbClr val="0070C0"/>
                </a:solidFill>
                <a:latin typeface="Arial Rounded MT Bold" panose="020F0704030504030204" pitchFamily="34" charset="0"/>
              </a:rPr>
              <a:t>Instant messaging application</a:t>
            </a:r>
          </a:p>
          <a:p>
            <a:pPr marL="285750" indent="-285750">
              <a:buFont typeface="Wingdings" panose="05000000000000000000" pitchFamily="2" charset="2"/>
              <a:buChar char="q"/>
            </a:pPr>
            <a:r>
              <a:rPr lang="en-US" b="1" dirty="0">
                <a:solidFill>
                  <a:srgbClr val="0070C0"/>
                </a:solidFill>
                <a:latin typeface="Arial Rounded MT Bold" panose="020F0704030504030204" pitchFamily="34" charset="0"/>
              </a:rPr>
              <a:t>Podcasts</a:t>
            </a:r>
          </a:p>
          <a:p>
            <a:pPr marL="285750" indent="-285750">
              <a:buFont typeface="Wingdings" panose="05000000000000000000" pitchFamily="2" charset="2"/>
              <a:buChar char="q"/>
            </a:pPr>
            <a:r>
              <a:rPr lang="en-US" b="1" dirty="0">
                <a:solidFill>
                  <a:srgbClr val="0070C0"/>
                </a:solidFill>
                <a:latin typeface="Arial Rounded MT Bold" panose="020F0704030504030204" pitchFamily="34" charset="0"/>
              </a:rPr>
              <a:t>Audio/video/photo-sharing sites</a:t>
            </a:r>
          </a:p>
          <a:p>
            <a:pPr marL="285750" indent="-285750">
              <a:buFont typeface="Wingdings" panose="05000000000000000000" pitchFamily="2" charset="2"/>
              <a:buChar char="q"/>
            </a:pPr>
            <a:r>
              <a:rPr lang="en-US" b="1" dirty="0">
                <a:solidFill>
                  <a:srgbClr val="0070C0"/>
                </a:solidFill>
                <a:latin typeface="Arial Rounded MT Bold" panose="020F0704030504030204" pitchFamily="34" charset="0"/>
              </a:rPr>
              <a:t>Virtual worlds</a:t>
            </a:r>
          </a:p>
        </p:txBody>
      </p:sp>
      <p:pic>
        <p:nvPicPr>
          <p:cNvPr id="10" name="Picture 9">
            <a:extLst>
              <a:ext uri="{FF2B5EF4-FFF2-40B4-BE49-F238E27FC236}">
                <a16:creationId xmlns:a16="http://schemas.microsoft.com/office/drawing/2014/main" id="{56C3552B-A999-F4E5-09C0-80287D0BF9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3286" y="2754087"/>
            <a:ext cx="4332513" cy="4027714"/>
          </a:xfrm>
          <a:prstGeom prst="roundRect">
            <a:avLst>
              <a:gd name="adj" fmla="val 8594"/>
            </a:avLst>
          </a:prstGeom>
          <a:solidFill>
            <a:srgbClr val="FFFFFF">
              <a:shade val="85000"/>
            </a:srgbClr>
          </a:solidFill>
          <a:ln>
            <a:solidFill>
              <a:srgbClr val="002060"/>
            </a:solidFill>
          </a:ln>
          <a:effectLst>
            <a:reflection blurRad="12700" stA="38000" endPos="28000" dist="5000" dir="5400000" sy="-100000" algn="bl" rotWithShape="0"/>
          </a:effectLst>
        </p:spPr>
      </p:pic>
    </p:spTree>
    <p:extLst>
      <p:ext uri="{BB962C8B-B14F-4D97-AF65-F5344CB8AC3E}">
        <p14:creationId xmlns:p14="http://schemas.microsoft.com/office/powerpoint/2010/main" val="918370942"/>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C13304-938F-C6E3-9D8E-0367309160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3086" y="3156857"/>
            <a:ext cx="9144000" cy="4354285"/>
          </a:xfrm>
          <a:prstGeom prst="rect">
            <a:avLst/>
          </a:prstGeom>
        </p:spPr>
      </p:pic>
      <p:sp>
        <p:nvSpPr>
          <p:cNvPr id="2" name="Title 1">
            <a:extLst>
              <a:ext uri="{FF2B5EF4-FFF2-40B4-BE49-F238E27FC236}">
                <a16:creationId xmlns:a16="http://schemas.microsoft.com/office/drawing/2014/main" id="{94499C74-BAB8-F0C5-1E69-FEC07E099774}"/>
              </a:ext>
            </a:extLst>
          </p:cNvPr>
          <p:cNvSpPr>
            <a:spLocks noGrp="1"/>
          </p:cNvSpPr>
          <p:nvPr>
            <p:ph type="title"/>
          </p:nvPr>
        </p:nvSpPr>
        <p:spPr>
          <a:xfrm>
            <a:off x="1756454" y="0"/>
            <a:ext cx="10018713" cy="827314"/>
          </a:xfrm>
        </p:spPr>
        <p:txBody>
          <a:bodyPr/>
          <a:lstStyle/>
          <a:p>
            <a:r>
              <a:rPr lang="en-US" b="1" u="sng" dirty="0">
                <a:solidFill>
                  <a:srgbClr val="002060"/>
                </a:solidFill>
                <a:latin typeface="Algerian" panose="04020705040A02060702" pitchFamily="82" charset="0"/>
              </a:rPr>
              <a:t>Freelancing</a:t>
            </a:r>
          </a:p>
        </p:txBody>
      </p:sp>
      <p:sp>
        <p:nvSpPr>
          <p:cNvPr id="3" name="TextBox 2">
            <a:extLst>
              <a:ext uri="{FF2B5EF4-FFF2-40B4-BE49-F238E27FC236}">
                <a16:creationId xmlns:a16="http://schemas.microsoft.com/office/drawing/2014/main" id="{50124BCF-20D6-C3B4-1B84-05F62168CC24}"/>
              </a:ext>
            </a:extLst>
          </p:cNvPr>
          <p:cNvSpPr txBox="1"/>
          <p:nvPr/>
        </p:nvSpPr>
        <p:spPr>
          <a:xfrm>
            <a:off x="2188028" y="827314"/>
            <a:ext cx="9808029" cy="2800767"/>
          </a:xfrm>
          <a:prstGeom prst="rect">
            <a:avLst/>
          </a:prstGeom>
          <a:noFill/>
        </p:spPr>
        <p:txBody>
          <a:bodyPr wrap="square" rtlCol="0">
            <a:spAutoFit/>
          </a:bodyPr>
          <a:lstStyle/>
          <a:p>
            <a:r>
              <a:rPr lang="en-US" b="1" dirty="0">
                <a:solidFill>
                  <a:srgbClr val="0070C0"/>
                </a:solidFill>
                <a:latin typeface="Arial Rounded MT Bold" panose="020F0704030504030204" pitchFamily="34" charset="0"/>
              </a:rPr>
              <a:t>Freelancing is a contact based self employment involving both short term and long term work projects. Freelancing can be undertaken in any job sector ranging from blog writing, marketing or creative arts to shooting video</a:t>
            </a:r>
            <a:r>
              <a:rPr lang="en-US" dirty="0"/>
              <a:t>.</a:t>
            </a:r>
          </a:p>
          <a:p>
            <a:pPr algn="ctr"/>
            <a:r>
              <a:rPr lang="en-US" sz="3200" b="1" u="sng" dirty="0">
                <a:solidFill>
                  <a:srgbClr val="002060"/>
                </a:solidFill>
                <a:latin typeface="Algerian" panose="04020705040A02060702" pitchFamily="82" charset="0"/>
              </a:rPr>
              <a:t>Types:</a:t>
            </a:r>
          </a:p>
          <a:p>
            <a:r>
              <a:rPr lang="en-US" b="1" dirty="0">
                <a:solidFill>
                  <a:srgbClr val="0070C0"/>
                </a:solidFill>
                <a:latin typeface="Arial Rounded MT Bold" panose="020F0704030504030204" pitchFamily="34" charset="0"/>
              </a:rPr>
              <a:t>Some types of freelancing are as follows:</a:t>
            </a:r>
          </a:p>
          <a:p>
            <a:r>
              <a:rPr lang="en-US" b="1" dirty="0">
                <a:solidFill>
                  <a:srgbClr val="0070C0"/>
                </a:solidFill>
                <a:latin typeface="Arial Rounded MT Bold" panose="020F0704030504030204" pitchFamily="34" charset="0"/>
              </a:rPr>
              <a:t>Data entry, marketing, fashion designing, web designing, photography and videography, content writing, programming and coding, social media management</a:t>
            </a:r>
            <a:r>
              <a:rPr lang="en-US" dirty="0"/>
              <a:t>.</a:t>
            </a:r>
          </a:p>
          <a:p>
            <a:endParaRPr lang="en-US" dirty="0"/>
          </a:p>
          <a:p>
            <a:endParaRPr lang="en-US" dirty="0"/>
          </a:p>
        </p:txBody>
      </p:sp>
    </p:spTree>
    <p:extLst>
      <p:ext uri="{BB962C8B-B14F-4D97-AF65-F5344CB8AC3E}">
        <p14:creationId xmlns:p14="http://schemas.microsoft.com/office/powerpoint/2010/main" val="268545967"/>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xagon 1">
            <a:extLst>
              <a:ext uri="{FF2B5EF4-FFF2-40B4-BE49-F238E27FC236}">
                <a16:creationId xmlns:a16="http://schemas.microsoft.com/office/drawing/2014/main" id="{CCA9CCDC-FA12-6B83-B605-11AF10DF33FD}"/>
              </a:ext>
            </a:extLst>
          </p:cNvPr>
          <p:cNvSpPr/>
          <p:nvPr/>
        </p:nvSpPr>
        <p:spPr>
          <a:xfrm>
            <a:off x="2022021" y="272142"/>
            <a:ext cx="1774371" cy="1567543"/>
          </a:xfrm>
          <a:prstGeom prst="hexagon">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600" b="1" dirty="0">
                <a:solidFill>
                  <a:srgbClr val="002060"/>
                </a:solidFill>
                <a:latin typeface="Arial Black" panose="020B0A04020102020204" pitchFamily="34" charset="0"/>
              </a:rPr>
              <a:t>T</a:t>
            </a:r>
          </a:p>
        </p:txBody>
      </p:sp>
      <p:sp>
        <p:nvSpPr>
          <p:cNvPr id="3" name="Hexagon 2">
            <a:extLst>
              <a:ext uri="{FF2B5EF4-FFF2-40B4-BE49-F238E27FC236}">
                <a16:creationId xmlns:a16="http://schemas.microsoft.com/office/drawing/2014/main" id="{A6814742-C88C-01C3-AB7F-5B13E4F9F10F}"/>
              </a:ext>
            </a:extLst>
          </p:cNvPr>
          <p:cNvSpPr/>
          <p:nvPr/>
        </p:nvSpPr>
        <p:spPr>
          <a:xfrm>
            <a:off x="3761002" y="838199"/>
            <a:ext cx="1774371" cy="1567543"/>
          </a:xfrm>
          <a:prstGeom prst="hexagon">
            <a:avLst/>
          </a:prstGeom>
          <a:solidFill>
            <a:schemeClr val="tx2">
              <a:lumMod val="50000"/>
              <a:lumOff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000" b="1" dirty="0">
                <a:solidFill>
                  <a:srgbClr val="002060"/>
                </a:solidFill>
                <a:latin typeface="Arial Black" panose="020B0A04020102020204" pitchFamily="34" charset="0"/>
              </a:rPr>
              <a:t>H</a:t>
            </a:r>
          </a:p>
        </p:txBody>
      </p:sp>
      <p:sp>
        <p:nvSpPr>
          <p:cNvPr id="4" name="Hexagon 3">
            <a:extLst>
              <a:ext uri="{FF2B5EF4-FFF2-40B4-BE49-F238E27FC236}">
                <a16:creationId xmlns:a16="http://schemas.microsoft.com/office/drawing/2014/main" id="{C09ED444-E279-2700-F2A2-DF15C6FADA35}"/>
              </a:ext>
            </a:extLst>
          </p:cNvPr>
          <p:cNvSpPr/>
          <p:nvPr/>
        </p:nvSpPr>
        <p:spPr>
          <a:xfrm>
            <a:off x="5369346" y="1758041"/>
            <a:ext cx="1774371" cy="1567543"/>
          </a:xfrm>
          <a:prstGeom prst="hexagon">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5400" b="1" dirty="0">
                <a:solidFill>
                  <a:srgbClr val="002060"/>
                </a:solidFill>
                <a:latin typeface="Arial Black" panose="020B0A04020102020204" pitchFamily="34" charset="0"/>
              </a:rPr>
              <a:t>A</a:t>
            </a:r>
          </a:p>
        </p:txBody>
      </p:sp>
      <p:sp>
        <p:nvSpPr>
          <p:cNvPr id="5" name="Hexagon 4">
            <a:extLst>
              <a:ext uri="{FF2B5EF4-FFF2-40B4-BE49-F238E27FC236}">
                <a16:creationId xmlns:a16="http://schemas.microsoft.com/office/drawing/2014/main" id="{E1CAB859-2B28-50D4-D888-5CD15AD396E9}"/>
              </a:ext>
            </a:extLst>
          </p:cNvPr>
          <p:cNvSpPr/>
          <p:nvPr/>
        </p:nvSpPr>
        <p:spPr>
          <a:xfrm>
            <a:off x="7100229" y="2677883"/>
            <a:ext cx="1774371" cy="1567543"/>
          </a:xfrm>
          <a:prstGeom prst="hexagon">
            <a:avLst/>
          </a:prstGeom>
          <a:solidFill>
            <a:schemeClr val="tx2">
              <a:lumMod val="50000"/>
              <a:lumOff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000" b="1" dirty="0">
                <a:solidFill>
                  <a:srgbClr val="002060"/>
                </a:solidFill>
                <a:latin typeface="Arial Black" panose="020B0A04020102020204" pitchFamily="34" charset="0"/>
              </a:rPr>
              <a:t>N</a:t>
            </a:r>
          </a:p>
        </p:txBody>
      </p:sp>
      <p:sp>
        <p:nvSpPr>
          <p:cNvPr id="6" name="Hexagon 5">
            <a:extLst>
              <a:ext uri="{FF2B5EF4-FFF2-40B4-BE49-F238E27FC236}">
                <a16:creationId xmlns:a16="http://schemas.microsoft.com/office/drawing/2014/main" id="{E0C12F6E-859C-0A77-E4A3-85B535D35FCA}"/>
              </a:ext>
            </a:extLst>
          </p:cNvPr>
          <p:cNvSpPr/>
          <p:nvPr/>
        </p:nvSpPr>
        <p:spPr>
          <a:xfrm>
            <a:off x="8720743" y="3831771"/>
            <a:ext cx="1774371" cy="1567543"/>
          </a:xfrm>
          <a:prstGeom prst="hexagon">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4800" b="1" dirty="0">
                <a:solidFill>
                  <a:srgbClr val="002060"/>
                </a:solidFill>
                <a:latin typeface="Arial Black" panose="020B0A04020102020204" pitchFamily="34" charset="0"/>
              </a:rPr>
              <a:t>K</a:t>
            </a:r>
          </a:p>
        </p:txBody>
      </p:sp>
      <p:sp>
        <p:nvSpPr>
          <p:cNvPr id="7" name="Hexagon 6">
            <a:extLst>
              <a:ext uri="{FF2B5EF4-FFF2-40B4-BE49-F238E27FC236}">
                <a16:creationId xmlns:a16="http://schemas.microsoft.com/office/drawing/2014/main" id="{762BD5A6-DB78-B680-6198-7FE3882F0749}"/>
              </a:ext>
            </a:extLst>
          </p:cNvPr>
          <p:cNvSpPr/>
          <p:nvPr/>
        </p:nvSpPr>
        <p:spPr>
          <a:xfrm>
            <a:off x="4917647" y="4376056"/>
            <a:ext cx="1774371" cy="1567543"/>
          </a:xfrm>
          <a:prstGeom prst="hexagon">
            <a:avLst/>
          </a:prstGeom>
          <a:solidFill>
            <a:schemeClr val="accent1">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000" b="1" dirty="0">
                <a:solidFill>
                  <a:srgbClr val="002060"/>
                </a:solidFill>
                <a:latin typeface="Arial Black" panose="020B0A04020102020204" pitchFamily="34" charset="0"/>
              </a:rPr>
              <a:t>O</a:t>
            </a:r>
          </a:p>
        </p:txBody>
      </p:sp>
      <p:sp>
        <p:nvSpPr>
          <p:cNvPr id="8" name="Hexagon 7">
            <a:extLst>
              <a:ext uri="{FF2B5EF4-FFF2-40B4-BE49-F238E27FC236}">
                <a16:creationId xmlns:a16="http://schemas.microsoft.com/office/drawing/2014/main" id="{DE0AC8AB-A635-972F-FA66-D26511526226}"/>
              </a:ext>
            </a:extLst>
          </p:cNvPr>
          <p:cNvSpPr/>
          <p:nvPr/>
        </p:nvSpPr>
        <p:spPr>
          <a:xfrm>
            <a:off x="6819195" y="5159827"/>
            <a:ext cx="1774371" cy="1567543"/>
          </a:xfrm>
          <a:prstGeom prst="hexagon">
            <a:avLst/>
          </a:prstGeom>
          <a:solidFill>
            <a:schemeClr val="bg2">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600" b="1" dirty="0">
                <a:solidFill>
                  <a:srgbClr val="002060"/>
                </a:solidFill>
                <a:latin typeface="Arial Black" panose="020B0A04020102020204" pitchFamily="34" charset="0"/>
              </a:rPr>
              <a:t>U</a:t>
            </a:r>
          </a:p>
        </p:txBody>
      </p:sp>
      <p:sp>
        <p:nvSpPr>
          <p:cNvPr id="9" name="Hexagon 8">
            <a:extLst>
              <a:ext uri="{FF2B5EF4-FFF2-40B4-BE49-F238E27FC236}">
                <a16:creationId xmlns:a16="http://schemas.microsoft.com/office/drawing/2014/main" id="{0A927E16-05EA-E90B-CC31-4D0032E485ED}"/>
              </a:ext>
            </a:extLst>
          </p:cNvPr>
          <p:cNvSpPr/>
          <p:nvPr/>
        </p:nvSpPr>
        <p:spPr>
          <a:xfrm>
            <a:off x="3075210" y="3450770"/>
            <a:ext cx="1774371" cy="1567543"/>
          </a:xfrm>
          <a:prstGeom prst="hexagon">
            <a:avLst/>
          </a:prstGeom>
          <a:solidFill>
            <a:schemeClr val="bg2">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6600" b="1" dirty="0">
                <a:solidFill>
                  <a:srgbClr val="002060"/>
                </a:solidFill>
                <a:latin typeface="Arial Black" panose="020B0A04020102020204" pitchFamily="34" charset="0"/>
              </a:rPr>
              <a:t>Y</a:t>
            </a:r>
          </a:p>
        </p:txBody>
      </p:sp>
    </p:spTree>
    <p:extLst>
      <p:ext uri="{BB962C8B-B14F-4D97-AF65-F5344CB8AC3E}">
        <p14:creationId xmlns:p14="http://schemas.microsoft.com/office/powerpoint/2010/main" val="3925297063"/>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373</TotalTime>
  <Words>550</Words>
  <Application>Microsoft Office PowerPoint</Application>
  <PresentationFormat>Widescreen</PresentationFormat>
  <Paragraphs>90</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Algerian</vt:lpstr>
      <vt:lpstr>Arial</vt:lpstr>
      <vt:lpstr>Arial Black</vt:lpstr>
      <vt:lpstr>Arial Rounded MT Bold</vt:lpstr>
      <vt:lpstr>Corbel</vt:lpstr>
      <vt:lpstr>Wingdings</vt:lpstr>
      <vt:lpstr>Parallax</vt:lpstr>
      <vt:lpstr>PowerPoint Presentation</vt:lpstr>
      <vt:lpstr>ENTREPRENEURSHIP</vt:lpstr>
      <vt:lpstr>TYPES OF ENTREPRENEURSHIP</vt:lpstr>
      <vt:lpstr>PROCESS OF BEING ENTREPRENEUr</vt:lpstr>
      <vt:lpstr>TEAM:</vt:lpstr>
      <vt:lpstr>TEAMWORK AND COLLABORATION</vt:lpstr>
      <vt:lpstr>DIGITAL TRANSFORMATION</vt:lpstr>
      <vt:lpstr>SOCIAL MEDIA</vt:lpstr>
      <vt:lpstr>Freelancing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HOME</dc:creator>
  <cp:lastModifiedBy>HOME</cp:lastModifiedBy>
  <cp:revision>10</cp:revision>
  <dcterms:created xsi:type="dcterms:W3CDTF">2023-12-16T15:54:20Z</dcterms:created>
  <dcterms:modified xsi:type="dcterms:W3CDTF">2023-12-17T13:11:28Z</dcterms:modified>
</cp:coreProperties>
</file>